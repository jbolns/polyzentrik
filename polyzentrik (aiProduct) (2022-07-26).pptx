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69" r:id="rId3"/>
    <p:sldId id="257" r:id="rId4"/>
    <p:sldId id="278" r:id="rId5"/>
    <p:sldId id="270" r:id="rId6"/>
    <p:sldId id="259" r:id="rId7"/>
    <p:sldId id="281" r:id="rId8"/>
    <p:sldId id="274" r:id="rId9"/>
    <p:sldId id="271" r:id="rId10"/>
    <p:sldId id="280" r:id="rId11"/>
    <p:sldId id="279" r:id="rId12"/>
    <p:sldId id="28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914" y="7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ata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AE2002-BBBD-4899-970B-DAF14EDAFB7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408FC66-9C41-4BDC-9615-06E26F507363}">
      <dgm:prSet/>
      <dgm:spPr/>
      <dgm:t>
        <a:bodyPr/>
        <a:lstStyle/>
        <a:p>
          <a:r>
            <a:rPr lang="en-US" dirty="0"/>
            <a:t>The next slides get a little complex. We’re talking AI. </a:t>
          </a:r>
        </a:p>
      </dgm:t>
    </dgm:pt>
    <dgm:pt modelId="{98F04DFD-A66D-4ACC-ACA3-A2EA28AC2CFF}" type="parTrans" cxnId="{7CC5CFA9-EDAA-48DE-ACE3-D1833BADE89E}">
      <dgm:prSet/>
      <dgm:spPr/>
      <dgm:t>
        <a:bodyPr/>
        <a:lstStyle/>
        <a:p>
          <a:endParaRPr lang="en-US"/>
        </a:p>
      </dgm:t>
    </dgm:pt>
    <dgm:pt modelId="{68DCD4C6-E9DC-490E-9021-59FDC81F5E34}" type="sibTrans" cxnId="{7CC5CFA9-EDAA-48DE-ACE3-D1833BADE89E}">
      <dgm:prSet/>
      <dgm:spPr/>
      <dgm:t>
        <a:bodyPr/>
        <a:lstStyle/>
        <a:p>
          <a:endParaRPr lang="en-US"/>
        </a:p>
      </dgm:t>
    </dgm:pt>
    <dgm:pt modelId="{3713EB25-C98F-4592-A416-015C2326FA59}">
      <dgm:prSet/>
      <dgm:spPr/>
      <dgm:t>
        <a:bodyPr/>
        <a:lstStyle/>
        <a:p>
          <a:r>
            <a:rPr lang="en-US"/>
            <a:t>But you CAN do it. </a:t>
          </a:r>
        </a:p>
      </dgm:t>
    </dgm:pt>
    <dgm:pt modelId="{AD1A68E6-19B0-4D69-8FAA-FD5F4A30A733}" type="parTrans" cxnId="{E84AFB45-00AA-4A5E-B2B8-896D89EEB95A}">
      <dgm:prSet/>
      <dgm:spPr/>
      <dgm:t>
        <a:bodyPr/>
        <a:lstStyle/>
        <a:p>
          <a:endParaRPr lang="en-US"/>
        </a:p>
      </dgm:t>
    </dgm:pt>
    <dgm:pt modelId="{C04D22DE-2DBE-4E74-985D-A7FB7A52E65F}" type="sibTrans" cxnId="{E84AFB45-00AA-4A5E-B2B8-896D89EEB95A}">
      <dgm:prSet/>
      <dgm:spPr/>
      <dgm:t>
        <a:bodyPr/>
        <a:lstStyle/>
        <a:p>
          <a:endParaRPr lang="en-US"/>
        </a:p>
      </dgm:t>
    </dgm:pt>
    <dgm:pt modelId="{9C17C666-B5E8-43F0-9270-45F0B870CE89}" type="pres">
      <dgm:prSet presAssocID="{57AE2002-BBBD-4899-970B-DAF14EDAFB75}" presName="root" presStyleCnt="0">
        <dgm:presLayoutVars>
          <dgm:dir/>
          <dgm:resizeHandles val="exact"/>
        </dgm:presLayoutVars>
      </dgm:prSet>
      <dgm:spPr/>
    </dgm:pt>
    <dgm:pt modelId="{805DCB79-6938-45F6-AACF-04B88E051B76}" type="pres">
      <dgm:prSet presAssocID="{5408FC66-9C41-4BDC-9615-06E26F507363}" presName="compNode" presStyleCnt="0"/>
      <dgm:spPr/>
    </dgm:pt>
    <dgm:pt modelId="{4A023911-D85A-48D7-9D99-E4187EA17BAB}" type="pres">
      <dgm:prSet presAssocID="{5408FC66-9C41-4BDC-9615-06E26F507363}" presName="bgRect" presStyleLbl="bgShp" presStyleIdx="0" presStyleCnt="2"/>
      <dgm:spPr/>
    </dgm:pt>
    <dgm:pt modelId="{438A99BC-CA91-4D9D-9301-F83A26F864E2}" type="pres">
      <dgm:prSet presAssocID="{5408FC66-9C41-4BDC-9615-06E26F50736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obot"/>
        </a:ext>
      </dgm:extLst>
    </dgm:pt>
    <dgm:pt modelId="{FE85354E-5724-4B9C-8472-A9CF0D1C869A}" type="pres">
      <dgm:prSet presAssocID="{5408FC66-9C41-4BDC-9615-06E26F507363}" presName="spaceRect" presStyleCnt="0"/>
      <dgm:spPr/>
    </dgm:pt>
    <dgm:pt modelId="{68AECFD2-91C0-4E8B-84BB-44E612EDBCF4}" type="pres">
      <dgm:prSet presAssocID="{5408FC66-9C41-4BDC-9615-06E26F507363}" presName="parTx" presStyleLbl="revTx" presStyleIdx="0" presStyleCnt="2">
        <dgm:presLayoutVars>
          <dgm:chMax val="0"/>
          <dgm:chPref val="0"/>
        </dgm:presLayoutVars>
      </dgm:prSet>
      <dgm:spPr/>
    </dgm:pt>
    <dgm:pt modelId="{ECDC3F53-0967-4407-856E-9B80A56C5393}" type="pres">
      <dgm:prSet presAssocID="{68DCD4C6-E9DC-490E-9021-59FDC81F5E34}" presName="sibTrans" presStyleCnt="0"/>
      <dgm:spPr/>
    </dgm:pt>
    <dgm:pt modelId="{25576A44-A908-446F-9544-51DAC0979247}" type="pres">
      <dgm:prSet presAssocID="{3713EB25-C98F-4592-A416-015C2326FA59}" presName="compNode" presStyleCnt="0"/>
      <dgm:spPr/>
    </dgm:pt>
    <dgm:pt modelId="{9C22C9C6-8F2F-4CAA-9E8C-5D28B0F09330}" type="pres">
      <dgm:prSet presAssocID="{3713EB25-C98F-4592-A416-015C2326FA59}" presName="bgRect" presStyleLbl="bgShp" presStyleIdx="1" presStyleCnt="2"/>
      <dgm:spPr/>
    </dgm:pt>
    <dgm:pt modelId="{861A20F8-92B5-4B2B-9AD5-2A7FFDEA1009}" type="pres">
      <dgm:prSet presAssocID="{3713EB25-C98F-4592-A416-015C2326FA5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Sunglasses face outline with solid fill"/>
        </a:ext>
      </dgm:extLst>
    </dgm:pt>
    <dgm:pt modelId="{F3E38C78-1DC6-49C6-A792-6D5497CA6B44}" type="pres">
      <dgm:prSet presAssocID="{3713EB25-C98F-4592-A416-015C2326FA59}" presName="spaceRect" presStyleCnt="0"/>
      <dgm:spPr/>
    </dgm:pt>
    <dgm:pt modelId="{E66E4C44-F971-40CA-9B5C-8E72F981B98B}" type="pres">
      <dgm:prSet presAssocID="{3713EB25-C98F-4592-A416-015C2326FA59}" presName="parTx" presStyleLbl="revTx" presStyleIdx="1" presStyleCnt="2">
        <dgm:presLayoutVars>
          <dgm:chMax val="0"/>
          <dgm:chPref val="0"/>
        </dgm:presLayoutVars>
      </dgm:prSet>
      <dgm:spPr/>
    </dgm:pt>
  </dgm:ptLst>
  <dgm:cxnLst>
    <dgm:cxn modelId="{602CAA5D-7346-4CBC-8921-B29DBB9BB37E}" type="presOf" srcId="{57AE2002-BBBD-4899-970B-DAF14EDAFB75}" destId="{9C17C666-B5E8-43F0-9270-45F0B870CE89}" srcOrd="0" destOrd="0" presId="urn:microsoft.com/office/officeart/2018/2/layout/IconVerticalSolidList"/>
    <dgm:cxn modelId="{E84AFB45-00AA-4A5E-B2B8-896D89EEB95A}" srcId="{57AE2002-BBBD-4899-970B-DAF14EDAFB75}" destId="{3713EB25-C98F-4592-A416-015C2326FA59}" srcOrd="1" destOrd="0" parTransId="{AD1A68E6-19B0-4D69-8FAA-FD5F4A30A733}" sibTransId="{C04D22DE-2DBE-4E74-985D-A7FB7A52E65F}"/>
    <dgm:cxn modelId="{D6D2808E-FC9B-4729-861D-704535D4453D}" type="presOf" srcId="{5408FC66-9C41-4BDC-9615-06E26F507363}" destId="{68AECFD2-91C0-4E8B-84BB-44E612EDBCF4}" srcOrd="0" destOrd="0" presId="urn:microsoft.com/office/officeart/2018/2/layout/IconVerticalSolidList"/>
    <dgm:cxn modelId="{7CC5CFA9-EDAA-48DE-ACE3-D1833BADE89E}" srcId="{57AE2002-BBBD-4899-970B-DAF14EDAFB75}" destId="{5408FC66-9C41-4BDC-9615-06E26F507363}" srcOrd="0" destOrd="0" parTransId="{98F04DFD-A66D-4ACC-ACA3-A2EA28AC2CFF}" sibTransId="{68DCD4C6-E9DC-490E-9021-59FDC81F5E34}"/>
    <dgm:cxn modelId="{00060EF7-BD90-42A6-AF7B-42140693A8BD}" type="presOf" srcId="{3713EB25-C98F-4592-A416-015C2326FA59}" destId="{E66E4C44-F971-40CA-9B5C-8E72F981B98B}" srcOrd="0" destOrd="0" presId="urn:microsoft.com/office/officeart/2018/2/layout/IconVerticalSolidList"/>
    <dgm:cxn modelId="{C3FF1BF4-47CA-4BD5-AF89-581729D2FE72}" type="presParOf" srcId="{9C17C666-B5E8-43F0-9270-45F0B870CE89}" destId="{805DCB79-6938-45F6-AACF-04B88E051B76}" srcOrd="0" destOrd="0" presId="urn:microsoft.com/office/officeart/2018/2/layout/IconVerticalSolidList"/>
    <dgm:cxn modelId="{4ECBEF29-4254-476E-B8CF-E31B87BB42EB}" type="presParOf" srcId="{805DCB79-6938-45F6-AACF-04B88E051B76}" destId="{4A023911-D85A-48D7-9D99-E4187EA17BAB}" srcOrd="0" destOrd="0" presId="urn:microsoft.com/office/officeart/2018/2/layout/IconVerticalSolidList"/>
    <dgm:cxn modelId="{B27FA9CA-5485-411F-BEBC-43D328C46B57}" type="presParOf" srcId="{805DCB79-6938-45F6-AACF-04B88E051B76}" destId="{438A99BC-CA91-4D9D-9301-F83A26F864E2}" srcOrd="1" destOrd="0" presId="urn:microsoft.com/office/officeart/2018/2/layout/IconVerticalSolidList"/>
    <dgm:cxn modelId="{44E87961-5A91-4DC1-817C-909BE58EC2BB}" type="presParOf" srcId="{805DCB79-6938-45F6-AACF-04B88E051B76}" destId="{FE85354E-5724-4B9C-8472-A9CF0D1C869A}" srcOrd="2" destOrd="0" presId="urn:microsoft.com/office/officeart/2018/2/layout/IconVerticalSolidList"/>
    <dgm:cxn modelId="{D045D436-F614-48CF-BE51-D9F0A1DA30EE}" type="presParOf" srcId="{805DCB79-6938-45F6-AACF-04B88E051B76}" destId="{68AECFD2-91C0-4E8B-84BB-44E612EDBCF4}" srcOrd="3" destOrd="0" presId="urn:microsoft.com/office/officeart/2018/2/layout/IconVerticalSolidList"/>
    <dgm:cxn modelId="{50AC69FC-703B-4F66-AC94-97E9BAFC0FF6}" type="presParOf" srcId="{9C17C666-B5E8-43F0-9270-45F0B870CE89}" destId="{ECDC3F53-0967-4407-856E-9B80A56C5393}" srcOrd="1" destOrd="0" presId="urn:microsoft.com/office/officeart/2018/2/layout/IconVerticalSolidList"/>
    <dgm:cxn modelId="{A3489113-CE57-440D-84D1-B5581813594E}" type="presParOf" srcId="{9C17C666-B5E8-43F0-9270-45F0B870CE89}" destId="{25576A44-A908-446F-9544-51DAC0979247}" srcOrd="2" destOrd="0" presId="urn:microsoft.com/office/officeart/2018/2/layout/IconVerticalSolidList"/>
    <dgm:cxn modelId="{07B54A0D-4C3E-42E7-B8FE-FB1400FAF85F}" type="presParOf" srcId="{25576A44-A908-446F-9544-51DAC0979247}" destId="{9C22C9C6-8F2F-4CAA-9E8C-5D28B0F09330}" srcOrd="0" destOrd="0" presId="urn:microsoft.com/office/officeart/2018/2/layout/IconVerticalSolidList"/>
    <dgm:cxn modelId="{720078B8-1E6B-40CD-8E22-0EF4B3BEBDF0}" type="presParOf" srcId="{25576A44-A908-446F-9544-51DAC0979247}" destId="{861A20F8-92B5-4B2B-9AD5-2A7FFDEA1009}" srcOrd="1" destOrd="0" presId="urn:microsoft.com/office/officeart/2018/2/layout/IconVerticalSolidList"/>
    <dgm:cxn modelId="{24F76828-AC35-4743-8E5B-902C66F31E84}" type="presParOf" srcId="{25576A44-A908-446F-9544-51DAC0979247}" destId="{F3E38C78-1DC6-49C6-A792-6D5497CA6B44}" srcOrd="2" destOrd="0" presId="urn:microsoft.com/office/officeart/2018/2/layout/IconVerticalSolidList"/>
    <dgm:cxn modelId="{BE971D20-588F-44C1-B9D5-AA098E5C082B}" type="presParOf" srcId="{25576A44-A908-446F-9544-51DAC0979247}" destId="{E66E4C44-F971-40CA-9B5C-8E72F981B98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8A7B839-3A8D-4134-A481-5D2E2FEC2695}"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8ECD6B1-416F-4D33-BAE7-65315EF623F0}">
      <dgm:prSet/>
      <dgm:spPr/>
      <dgm:t>
        <a:bodyPr/>
        <a:lstStyle/>
        <a:p>
          <a:pPr>
            <a:lnSpc>
              <a:spcPct val="100000"/>
            </a:lnSpc>
          </a:pPr>
          <a:r>
            <a:rPr lang="en-GB" dirty="0"/>
            <a:t>Cloud v Edge</a:t>
          </a:r>
        </a:p>
        <a:p>
          <a:pPr>
            <a:lnSpc>
              <a:spcPct val="100000"/>
            </a:lnSpc>
          </a:pPr>
          <a:r>
            <a:rPr lang="en-GB" b="1" dirty="0"/>
            <a:t>Cloud-based analytics.</a:t>
          </a:r>
          <a:endParaRPr lang="en-US" b="1" dirty="0"/>
        </a:p>
      </dgm:t>
    </dgm:pt>
    <dgm:pt modelId="{8A03670D-E471-4DBA-9128-1762DB5D483B}" type="parTrans" cxnId="{39A82296-3BE9-4E0D-BE18-69A2A4173080}">
      <dgm:prSet/>
      <dgm:spPr/>
      <dgm:t>
        <a:bodyPr/>
        <a:lstStyle/>
        <a:p>
          <a:endParaRPr lang="en-US"/>
        </a:p>
      </dgm:t>
    </dgm:pt>
    <dgm:pt modelId="{937ADA78-C231-4A61-8157-1FF6F70ED025}" type="sibTrans" cxnId="{39A82296-3BE9-4E0D-BE18-69A2A4173080}">
      <dgm:prSet/>
      <dgm:spPr/>
      <dgm:t>
        <a:bodyPr/>
        <a:lstStyle/>
        <a:p>
          <a:endParaRPr lang="en-US"/>
        </a:p>
      </dgm:t>
    </dgm:pt>
    <dgm:pt modelId="{292233D5-47AC-49CC-8A7C-F602FE61510C}">
      <dgm:prSet/>
      <dgm:spPr/>
      <dgm:t>
        <a:bodyPr/>
        <a:lstStyle/>
        <a:p>
          <a:pPr>
            <a:lnSpc>
              <a:spcPct val="100000"/>
            </a:lnSpc>
          </a:pPr>
          <a:r>
            <a:rPr lang="en-GB" dirty="0"/>
            <a:t>Each business will get feedback based on aggregated anonymised data from many businesses, but no business can have access to data of other businesses. Therefore, the analysis must happen in the cloud and upon anonymised versions of users’ data.</a:t>
          </a:r>
          <a:endParaRPr lang="en-US" dirty="0"/>
        </a:p>
      </dgm:t>
    </dgm:pt>
    <dgm:pt modelId="{C7926A5E-29D4-40AB-877A-4333D414C3DD}" type="parTrans" cxnId="{E9BB32A9-7B8D-487B-B5EA-239D294FEAD5}">
      <dgm:prSet/>
      <dgm:spPr/>
      <dgm:t>
        <a:bodyPr/>
        <a:lstStyle/>
        <a:p>
          <a:endParaRPr lang="en-US"/>
        </a:p>
      </dgm:t>
    </dgm:pt>
    <dgm:pt modelId="{B9054374-09EB-4B7E-81FB-2B90BC8DE03B}" type="sibTrans" cxnId="{E9BB32A9-7B8D-487B-B5EA-239D294FEAD5}">
      <dgm:prSet/>
      <dgm:spPr/>
      <dgm:t>
        <a:bodyPr/>
        <a:lstStyle/>
        <a:p>
          <a:endParaRPr lang="en-US"/>
        </a:p>
      </dgm:t>
    </dgm:pt>
    <dgm:pt modelId="{0A537AF7-3DD5-4FB3-96A6-C9DBEC1D2AF9}">
      <dgm:prSet/>
      <dgm:spPr/>
      <dgm:t>
        <a:bodyPr/>
        <a:lstStyle/>
        <a:p>
          <a:pPr>
            <a:lnSpc>
              <a:spcPct val="100000"/>
            </a:lnSpc>
          </a:pPr>
          <a:r>
            <a:rPr lang="en-GB" dirty="0"/>
            <a:t>Offline v online learning</a:t>
          </a:r>
        </a:p>
        <a:p>
          <a:pPr>
            <a:lnSpc>
              <a:spcPct val="100000"/>
            </a:lnSpc>
          </a:pPr>
          <a:r>
            <a:rPr lang="en-GB" b="1" dirty="0"/>
            <a:t>Offline.</a:t>
          </a:r>
          <a:endParaRPr lang="en-US" b="1" dirty="0"/>
        </a:p>
      </dgm:t>
    </dgm:pt>
    <dgm:pt modelId="{2BBE0F08-FF11-450D-A892-EEF617654479}" type="parTrans" cxnId="{63DA1918-D170-4257-A2D8-F9310F638E92}">
      <dgm:prSet/>
      <dgm:spPr/>
      <dgm:t>
        <a:bodyPr/>
        <a:lstStyle/>
        <a:p>
          <a:endParaRPr lang="en-US"/>
        </a:p>
      </dgm:t>
    </dgm:pt>
    <dgm:pt modelId="{9B93EF63-E199-41DB-8348-B82B86D3D287}" type="sibTrans" cxnId="{63DA1918-D170-4257-A2D8-F9310F638E92}">
      <dgm:prSet/>
      <dgm:spPr/>
      <dgm:t>
        <a:bodyPr/>
        <a:lstStyle/>
        <a:p>
          <a:endParaRPr lang="en-US"/>
        </a:p>
      </dgm:t>
    </dgm:pt>
    <dgm:pt modelId="{3FE018E7-2541-4975-B509-36A98C29C5C0}">
      <dgm:prSet/>
      <dgm:spPr/>
      <dgm:t>
        <a:bodyPr/>
        <a:lstStyle/>
        <a:p>
          <a:pPr>
            <a:lnSpc>
              <a:spcPct val="100000"/>
            </a:lnSpc>
          </a:pPr>
          <a:r>
            <a:rPr lang="en-GB" dirty="0"/>
            <a:t>System will need to process copious amounts of data. It would be expensive to provide continuous analysis.</a:t>
          </a:r>
          <a:endParaRPr lang="en-US" dirty="0"/>
        </a:p>
      </dgm:t>
    </dgm:pt>
    <dgm:pt modelId="{6BC255DE-09CC-43EC-AE73-1AA62A18753A}" type="parTrans" cxnId="{211DEAB6-FBC0-4B00-A0FD-73858F0A21DA}">
      <dgm:prSet/>
      <dgm:spPr/>
      <dgm:t>
        <a:bodyPr/>
        <a:lstStyle/>
        <a:p>
          <a:endParaRPr lang="en-US"/>
        </a:p>
      </dgm:t>
    </dgm:pt>
    <dgm:pt modelId="{D7335ACD-16A1-4C46-8E54-0C2101BC6AF2}" type="sibTrans" cxnId="{211DEAB6-FBC0-4B00-A0FD-73858F0A21DA}">
      <dgm:prSet/>
      <dgm:spPr/>
      <dgm:t>
        <a:bodyPr/>
        <a:lstStyle/>
        <a:p>
          <a:endParaRPr lang="en-US"/>
        </a:p>
      </dgm:t>
    </dgm:pt>
    <dgm:pt modelId="{B3AA36A7-8B3F-452D-AAFF-4E89AC3FB8A5}">
      <dgm:prSet/>
      <dgm:spPr/>
      <dgm:t>
        <a:bodyPr/>
        <a:lstStyle/>
        <a:p>
          <a:pPr>
            <a:lnSpc>
              <a:spcPct val="100000"/>
            </a:lnSpc>
          </a:pPr>
          <a:r>
            <a:rPr lang="en-GB" dirty="0"/>
            <a:t>Batch v online predictions</a:t>
          </a:r>
        </a:p>
        <a:p>
          <a:pPr>
            <a:lnSpc>
              <a:spcPct val="100000"/>
            </a:lnSpc>
          </a:pPr>
          <a:r>
            <a:rPr lang="en-GB" b="1" dirty="0"/>
            <a:t>Batch.</a:t>
          </a:r>
          <a:endParaRPr lang="en-US" b="1" dirty="0"/>
        </a:p>
      </dgm:t>
    </dgm:pt>
    <dgm:pt modelId="{9C7DF7CB-E576-4663-A846-02B7B00987B9}" type="parTrans" cxnId="{7E3A33D2-53DC-488F-947B-03D0FB31272F}">
      <dgm:prSet/>
      <dgm:spPr/>
      <dgm:t>
        <a:bodyPr/>
        <a:lstStyle/>
        <a:p>
          <a:endParaRPr lang="en-US"/>
        </a:p>
      </dgm:t>
    </dgm:pt>
    <dgm:pt modelId="{FE345A39-914B-417A-9298-8147D7469082}" type="sibTrans" cxnId="{7E3A33D2-53DC-488F-947B-03D0FB31272F}">
      <dgm:prSet/>
      <dgm:spPr/>
      <dgm:t>
        <a:bodyPr/>
        <a:lstStyle/>
        <a:p>
          <a:endParaRPr lang="en-US"/>
        </a:p>
      </dgm:t>
    </dgm:pt>
    <dgm:pt modelId="{E4679C1C-23F1-4DF3-8272-BF1E68E7C9A3}">
      <dgm:prSet/>
      <dgm:spPr/>
      <dgm:t>
        <a:bodyPr/>
        <a:lstStyle/>
        <a:p>
          <a:pPr>
            <a:lnSpc>
              <a:spcPct val="100000"/>
            </a:lnSpc>
          </a:pPr>
          <a:r>
            <a:rPr lang="en-GB" dirty="0"/>
            <a:t>System needs to offer periodical updates, perhaps hourly, even, but updates are only meaningful is sufficient data has accumulated. Until then, the previous state-of-affairs remains valid.</a:t>
          </a:r>
          <a:endParaRPr lang="en-US" dirty="0"/>
        </a:p>
      </dgm:t>
    </dgm:pt>
    <dgm:pt modelId="{810934BD-CDDE-4450-86E5-966785966463}" type="parTrans" cxnId="{3A983E79-4C0C-49D7-BDD1-13EA2BE49AC7}">
      <dgm:prSet/>
      <dgm:spPr/>
      <dgm:t>
        <a:bodyPr/>
        <a:lstStyle/>
        <a:p>
          <a:endParaRPr lang="en-US"/>
        </a:p>
      </dgm:t>
    </dgm:pt>
    <dgm:pt modelId="{2B925888-3708-4D36-ABA2-5FC8FE9A231E}" type="sibTrans" cxnId="{3A983E79-4C0C-49D7-BDD1-13EA2BE49AC7}">
      <dgm:prSet/>
      <dgm:spPr/>
      <dgm:t>
        <a:bodyPr/>
        <a:lstStyle/>
        <a:p>
          <a:endParaRPr lang="en-US"/>
        </a:p>
      </dgm:t>
    </dgm:pt>
    <dgm:pt modelId="{91FAB809-B02E-4C0B-8286-C29964F685FE}" type="pres">
      <dgm:prSet presAssocID="{C8A7B839-3A8D-4134-A481-5D2E2FEC2695}" presName="root" presStyleCnt="0">
        <dgm:presLayoutVars>
          <dgm:dir/>
          <dgm:resizeHandles val="exact"/>
        </dgm:presLayoutVars>
      </dgm:prSet>
      <dgm:spPr/>
    </dgm:pt>
    <dgm:pt modelId="{0B7F69D7-00E7-4574-97C1-04636C20F035}" type="pres">
      <dgm:prSet presAssocID="{A8ECD6B1-416F-4D33-BAE7-65315EF623F0}" presName="compNode" presStyleCnt="0"/>
      <dgm:spPr/>
    </dgm:pt>
    <dgm:pt modelId="{7BAAB366-5956-4C0D-ACEA-4D37743E849B}" type="pres">
      <dgm:prSet presAssocID="{A8ECD6B1-416F-4D33-BAE7-65315EF623F0}" presName="bgRect" presStyleLbl="bgShp" presStyleIdx="0" presStyleCnt="3"/>
      <dgm:spPr/>
    </dgm:pt>
    <dgm:pt modelId="{2F713D72-D1C5-4CAA-8C75-D450B10FFD35}" type="pres">
      <dgm:prSet presAssocID="{A8ECD6B1-416F-4D33-BAE7-65315EF623F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yncing Cloud"/>
        </a:ext>
      </dgm:extLst>
    </dgm:pt>
    <dgm:pt modelId="{409C6064-F73B-44B8-8151-9F47D44713F3}" type="pres">
      <dgm:prSet presAssocID="{A8ECD6B1-416F-4D33-BAE7-65315EF623F0}" presName="spaceRect" presStyleCnt="0"/>
      <dgm:spPr/>
    </dgm:pt>
    <dgm:pt modelId="{F3976CDC-44B9-43E8-B0BA-E00BC73BCE22}" type="pres">
      <dgm:prSet presAssocID="{A8ECD6B1-416F-4D33-BAE7-65315EF623F0}" presName="parTx" presStyleLbl="revTx" presStyleIdx="0" presStyleCnt="6">
        <dgm:presLayoutVars>
          <dgm:chMax val="0"/>
          <dgm:chPref val="0"/>
        </dgm:presLayoutVars>
      </dgm:prSet>
      <dgm:spPr/>
    </dgm:pt>
    <dgm:pt modelId="{17245030-F8BB-49D2-89BA-952472A1A428}" type="pres">
      <dgm:prSet presAssocID="{A8ECD6B1-416F-4D33-BAE7-65315EF623F0}" presName="desTx" presStyleLbl="revTx" presStyleIdx="1" presStyleCnt="6">
        <dgm:presLayoutVars/>
      </dgm:prSet>
      <dgm:spPr/>
    </dgm:pt>
    <dgm:pt modelId="{251F7132-71E7-42AE-AA12-F1F3038AEC48}" type="pres">
      <dgm:prSet presAssocID="{937ADA78-C231-4A61-8157-1FF6F70ED025}" presName="sibTrans" presStyleCnt="0"/>
      <dgm:spPr/>
    </dgm:pt>
    <dgm:pt modelId="{52526504-CDD8-4294-B6AD-0511DA437FE8}" type="pres">
      <dgm:prSet presAssocID="{0A537AF7-3DD5-4FB3-96A6-C9DBEC1D2AF9}" presName="compNode" presStyleCnt="0"/>
      <dgm:spPr/>
    </dgm:pt>
    <dgm:pt modelId="{B6E610E4-F93A-40BE-8C22-7F2573B4FDCB}" type="pres">
      <dgm:prSet presAssocID="{0A537AF7-3DD5-4FB3-96A6-C9DBEC1D2AF9}" presName="bgRect" presStyleLbl="bgShp" presStyleIdx="1" presStyleCnt="3"/>
      <dgm:spPr/>
    </dgm:pt>
    <dgm:pt modelId="{C38FF2EC-4BBC-4828-AB21-CDF1B13CB688}" type="pres">
      <dgm:prSet presAssocID="{0A537AF7-3DD5-4FB3-96A6-C9DBEC1D2AF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Lungs"/>
        </a:ext>
      </dgm:extLst>
    </dgm:pt>
    <dgm:pt modelId="{3B04B1E9-1324-4A52-8237-A7D32CA309D2}" type="pres">
      <dgm:prSet presAssocID="{0A537AF7-3DD5-4FB3-96A6-C9DBEC1D2AF9}" presName="spaceRect" presStyleCnt="0"/>
      <dgm:spPr/>
    </dgm:pt>
    <dgm:pt modelId="{EB8C9C7F-202C-44B0-8FD5-94790927F526}" type="pres">
      <dgm:prSet presAssocID="{0A537AF7-3DD5-4FB3-96A6-C9DBEC1D2AF9}" presName="parTx" presStyleLbl="revTx" presStyleIdx="2" presStyleCnt="6">
        <dgm:presLayoutVars>
          <dgm:chMax val="0"/>
          <dgm:chPref val="0"/>
        </dgm:presLayoutVars>
      </dgm:prSet>
      <dgm:spPr/>
    </dgm:pt>
    <dgm:pt modelId="{6203F34B-8792-4FB2-8C8A-A707852D3203}" type="pres">
      <dgm:prSet presAssocID="{0A537AF7-3DD5-4FB3-96A6-C9DBEC1D2AF9}" presName="desTx" presStyleLbl="revTx" presStyleIdx="3" presStyleCnt="6">
        <dgm:presLayoutVars/>
      </dgm:prSet>
      <dgm:spPr/>
    </dgm:pt>
    <dgm:pt modelId="{C433AA83-DAF6-43B5-BE55-7E863D1E62C1}" type="pres">
      <dgm:prSet presAssocID="{9B93EF63-E199-41DB-8348-B82B86D3D287}" presName="sibTrans" presStyleCnt="0"/>
      <dgm:spPr/>
    </dgm:pt>
    <dgm:pt modelId="{F988CA37-7380-4D98-8B57-910A73EAE3AC}" type="pres">
      <dgm:prSet presAssocID="{B3AA36A7-8B3F-452D-AAFF-4E89AC3FB8A5}" presName="compNode" presStyleCnt="0"/>
      <dgm:spPr/>
    </dgm:pt>
    <dgm:pt modelId="{12F7B373-3CC4-4C5C-A71B-E1DBCC54C735}" type="pres">
      <dgm:prSet presAssocID="{B3AA36A7-8B3F-452D-AAFF-4E89AC3FB8A5}" presName="bgRect" presStyleLbl="bgShp" presStyleIdx="2" presStyleCnt="3"/>
      <dgm:spPr/>
    </dgm:pt>
    <dgm:pt modelId="{C230504D-A38A-4107-8425-A9282EE9F0B0}" type="pres">
      <dgm:prSet presAssocID="{B3AA36A7-8B3F-452D-AAFF-4E89AC3FB8A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rocessor"/>
        </a:ext>
      </dgm:extLst>
    </dgm:pt>
    <dgm:pt modelId="{44EB8B83-C907-4AA2-853D-C7F6900DA27A}" type="pres">
      <dgm:prSet presAssocID="{B3AA36A7-8B3F-452D-AAFF-4E89AC3FB8A5}" presName="spaceRect" presStyleCnt="0"/>
      <dgm:spPr/>
    </dgm:pt>
    <dgm:pt modelId="{10370C2A-615D-4376-824E-CB4E2A7B6DE0}" type="pres">
      <dgm:prSet presAssocID="{B3AA36A7-8B3F-452D-AAFF-4E89AC3FB8A5}" presName="parTx" presStyleLbl="revTx" presStyleIdx="4" presStyleCnt="6">
        <dgm:presLayoutVars>
          <dgm:chMax val="0"/>
          <dgm:chPref val="0"/>
        </dgm:presLayoutVars>
      </dgm:prSet>
      <dgm:spPr/>
    </dgm:pt>
    <dgm:pt modelId="{2AB3114C-BEE6-42B3-A4EC-D803D8F663C9}" type="pres">
      <dgm:prSet presAssocID="{B3AA36A7-8B3F-452D-AAFF-4E89AC3FB8A5}" presName="desTx" presStyleLbl="revTx" presStyleIdx="5" presStyleCnt="6">
        <dgm:presLayoutVars/>
      </dgm:prSet>
      <dgm:spPr/>
    </dgm:pt>
  </dgm:ptLst>
  <dgm:cxnLst>
    <dgm:cxn modelId="{63DA1918-D170-4257-A2D8-F9310F638E92}" srcId="{C8A7B839-3A8D-4134-A481-5D2E2FEC2695}" destId="{0A537AF7-3DD5-4FB3-96A6-C9DBEC1D2AF9}" srcOrd="1" destOrd="0" parTransId="{2BBE0F08-FF11-450D-A892-EEF617654479}" sibTransId="{9B93EF63-E199-41DB-8348-B82B86D3D287}"/>
    <dgm:cxn modelId="{79EE9D2B-D99F-453F-B713-D2DCA79B6182}" type="presOf" srcId="{E4679C1C-23F1-4DF3-8272-BF1E68E7C9A3}" destId="{2AB3114C-BEE6-42B3-A4EC-D803D8F663C9}" srcOrd="0" destOrd="0" presId="urn:microsoft.com/office/officeart/2018/2/layout/IconVerticalSolidList"/>
    <dgm:cxn modelId="{3A983E79-4C0C-49D7-BDD1-13EA2BE49AC7}" srcId="{B3AA36A7-8B3F-452D-AAFF-4E89AC3FB8A5}" destId="{E4679C1C-23F1-4DF3-8272-BF1E68E7C9A3}" srcOrd="0" destOrd="0" parTransId="{810934BD-CDDE-4450-86E5-966785966463}" sibTransId="{2B925888-3708-4D36-ABA2-5FC8FE9A231E}"/>
    <dgm:cxn modelId="{70C60A5A-9110-4EB0-A284-6F1CB252764E}" type="presOf" srcId="{C8A7B839-3A8D-4134-A481-5D2E2FEC2695}" destId="{91FAB809-B02E-4C0B-8286-C29964F685FE}" srcOrd="0" destOrd="0" presId="urn:microsoft.com/office/officeart/2018/2/layout/IconVerticalSolidList"/>
    <dgm:cxn modelId="{CE532E7D-A003-4A59-9390-BECAB19BE0D1}" type="presOf" srcId="{292233D5-47AC-49CC-8A7C-F602FE61510C}" destId="{17245030-F8BB-49D2-89BA-952472A1A428}" srcOrd="0" destOrd="0" presId="urn:microsoft.com/office/officeart/2018/2/layout/IconVerticalSolidList"/>
    <dgm:cxn modelId="{F4D38C90-A5DC-41B4-B55F-0D07A8270C09}" type="presOf" srcId="{0A537AF7-3DD5-4FB3-96A6-C9DBEC1D2AF9}" destId="{EB8C9C7F-202C-44B0-8FD5-94790927F526}" srcOrd="0" destOrd="0" presId="urn:microsoft.com/office/officeart/2018/2/layout/IconVerticalSolidList"/>
    <dgm:cxn modelId="{7C28BA95-B3A0-401A-AC8D-D46BBE920E4A}" type="presOf" srcId="{B3AA36A7-8B3F-452D-AAFF-4E89AC3FB8A5}" destId="{10370C2A-615D-4376-824E-CB4E2A7B6DE0}" srcOrd="0" destOrd="0" presId="urn:microsoft.com/office/officeart/2018/2/layout/IconVerticalSolidList"/>
    <dgm:cxn modelId="{39A82296-3BE9-4E0D-BE18-69A2A4173080}" srcId="{C8A7B839-3A8D-4134-A481-5D2E2FEC2695}" destId="{A8ECD6B1-416F-4D33-BAE7-65315EF623F0}" srcOrd="0" destOrd="0" parTransId="{8A03670D-E471-4DBA-9128-1762DB5D483B}" sibTransId="{937ADA78-C231-4A61-8157-1FF6F70ED025}"/>
    <dgm:cxn modelId="{E9BB32A9-7B8D-487B-B5EA-239D294FEAD5}" srcId="{A8ECD6B1-416F-4D33-BAE7-65315EF623F0}" destId="{292233D5-47AC-49CC-8A7C-F602FE61510C}" srcOrd="0" destOrd="0" parTransId="{C7926A5E-29D4-40AB-877A-4333D414C3DD}" sibTransId="{B9054374-09EB-4B7E-81FB-2B90BC8DE03B}"/>
    <dgm:cxn modelId="{211DEAB6-FBC0-4B00-A0FD-73858F0A21DA}" srcId="{0A537AF7-3DD5-4FB3-96A6-C9DBEC1D2AF9}" destId="{3FE018E7-2541-4975-B509-36A98C29C5C0}" srcOrd="0" destOrd="0" parTransId="{6BC255DE-09CC-43EC-AE73-1AA62A18753A}" sibTransId="{D7335ACD-16A1-4C46-8E54-0C2101BC6AF2}"/>
    <dgm:cxn modelId="{7E3A33D2-53DC-488F-947B-03D0FB31272F}" srcId="{C8A7B839-3A8D-4134-A481-5D2E2FEC2695}" destId="{B3AA36A7-8B3F-452D-AAFF-4E89AC3FB8A5}" srcOrd="2" destOrd="0" parTransId="{9C7DF7CB-E576-4663-A846-02B7B00987B9}" sibTransId="{FE345A39-914B-417A-9298-8147D7469082}"/>
    <dgm:cxn modelId="{3DCDC9D3-2A2B-4359-AED0-115C85772125}" type="presOf" srcId="{A8ECD6B1-416F-4D33-BAE7-65315EF623F0}" destId="{F3976CDC-44B9-43E8-B0BA-E00BC73BCE22}" srcOrd="0" destOrd="0" presId="urn:microsoft.com/office/officeart/2018/2/layout/IconVerticalSolidList"/>
    <dgm:cxn modelId="{FA5567F3-A6A2-43B8-9746-4CB61915349C}" type="presOf" srcId="{3FE018E7-2541-4975-B509-36A98C29C5C0}" destId="{6203F34B-8792-4FB2-8C8A-A707852D3203}" srcOrd="0" destOrd="0" presId="urn:microsoft.com/office/officeart/2018/2/layout/IconVerticalSolidList"/>
    <dgm:cxn modelId="{038B5CBF-A038-4A0C-AF0E-35CD45586266}" type="presParOf" srcId="{91FAB809-B02E-4C0B-8286-C29964F685FE}" destId="{0B7F69D7-00E7-4574-97C1-04636C20F035}" srcOrd="0" destOrd="0" presId="urn:microsoft.com/office/officeart/2018/2/layout/IconVerticalSolidList"/>
    <dgm:cxn modelId="{94227B75-56D0-4082-A52E-7A845AD5F992}" type="presParOf" srcId="{0B7F69D7-00E7-4574-97C1-04636C20F035}" destId="{7BAAB366-5956-4C0D-ACEA-4D37743E849B}" srcOrd="0" destOrd="0" presId="urn:microsoft.com/office/officeart/2018/2/layout/IconVerticalSolidList"/>
    <dgm:cxn modelId="{70512848-C39B-4B31-9F5A-845823F8A568}" type="presParOf" srcId="{0B7F69D7-00E7-4574-97C1-04636C20F035}" destId="{2F713D72-D1C5-4CAA-8C75-D450B10FFD35}" srcOrd="1" destOrd="0" presId="urn:microsoft.com/office/officeart/2018/2/layout/IconVerticalSolidList"/>
    <dgm:cxn modelId="{64BFD708-817C-4CB7-97AD-02E49D99485F}" type="presParOf" srcId="{0B7F69D7-00E7-4574-97C1-04636C20F035}" destId="{409C6064-F73B-44B8-8151-9F47D44713F3}" srcOrd="2" destOrd="0" presId="urn:microsoft.com/office/officeart/2018/2/layout/IconVerticalSolidList"/>
    <dgm:cxn modelId="{7299209D-FD49-4C8C-908E-E40C958FEC2A}" type="presParOf" srcId="{0B7F69D7-00E7-4574-97C1-04636C20F035}" destId="{F3976CDC-44B9-43E8-B0BA-E00BC73BCE22}" srcOrd="3" destOrd="0" presId="urn:microsoft.com/office/officeart/2018/2/layout/IconVerticalSolidList"/>
    <dgm:cxn modelId="{3A861D6F-EDF2-4649-8207-44C7B6258C43}" type="presParOf" srcId="{0B7F69D7-00E7-4574-97C1-04636C20F035}" destId="{17245030-F8BB-49D2-89BA-952472A1A428}" srcOrd="4" destOrd="0" presId="urn:microsoft.com/office/officeart/2018/2/layout/IconVerticalSolidList"/>
    <dgm:cxn modelId="{296FDA5D-EB55-4235-A994-1488A62F6568}" type="presParOf" srcId="{91FAB809-B02E-4C0B-8286-C29964F685FE}" destId="{251F7132-71E7-42AE-AA12-F1F3038AEC48}" srcOrd="1" destOrd="0" presId="urn:microsoft.com/office/officeart/2018/2/layout/IconVerticalSolidList"/>
    <dgm:cxn modelId="{5372AB6B-EA48-486C-B25B-375585F63CD7}" type="presParOf" srcId="{91FAB809-B02E-4C0B-8286-C29964F685FE}" destId="{52526504-CDD8-4294-B6AD-0511DA437FE8}" srcOrd="2" destOrd="0" presId="urn:microsoft.com/office/officeart/2018/2/layout/IconVerticalSolidList"/>
    <dgm:cxn modelId="{FFC55F47-575F-4658-87FC-ECBFCB2BC190}" type="presParOf" srcId="{52526504-CDD8-4294-B6AD-0511DA437FE8}" destId="{B6E610E4-F93A-40BE-8C22-7F2573B4FDCB}" srcOrd="0" destOrd="0" presId="urn:microsoft.com/office/officeart/2018/2/layout/IconVerticalSolidList"/>
    <dgm:cxn modelId="{29B0A30A-F13C-416E-9C52-21A7BCEA514D}" type="presParOf" srcId="{52526504-CDD8-4294-B6AD-0511DA437FE8}" destId="{C38FF2EC-4BBC-4828-AB21-CDF1B13CB688}" srcOrd="1" destOrd="0" presId="urn:microsoft.com/office/officeart/2018/2/layout/IconVerticalSolidList"/>
    <dgm:cxn modelId="{56096CDF-30C4-49CC-B833-30F49FED9D28}" type="presParOf" srcId="{52526504-CDD8-4294-B6AD-0511DA437FE8}" destId="{3B04B1E9-1324-4A52-8237-A7D32CA309D2}" srcOrd="2" destOrd="0" presId="urn:microsoft.com/office/officeart/2018/2/layout/IconVerticalSolidList"/>
    <dgm:cxn modelId="{38B790DC-180E-4C71-AADF-2D5FFFFBEF53}" type="presParOf" srcId="{52526504-CDD8-4294-B6AD-0511DA437FE8}" destId="{EB8C9C7F-202C-44B0-8FD5-94790927F526}" srcOrd="3" destOrd="0" presId="urn:microsoft.com/office/officeart/2018/2/layout/IconVerticalSolidList"/>
    <dgm:cxn modelId="{7237E91E-5D86-4346-97FE-BC1887A0880F}" type="presParOf" srcId="{52526504-CDD8-4294-B6AD-0511DA437FE8}" destId="{6203F34B-8792-4FB2-8C8A-A707852D3203}" srcOrd="4" destOrd="0" presId="urn:microsoft.com/office/officeart/2018/2/layout/IconVerticalSolidList"/>
    <dgm:cxn modelId="{81DF4B94-A3F9-4281-BF27-BF80E435E9FC}" type="presParOf" srcId="{91FAB809-B02E-4C0B-8286-C29964F685FE}" destId="{C433AA83-DAF6-43B5-BE55-7E863D1E62C1}" srcOrd="3" destOrd="0" presId="urn:microsoft.com/office/officeart/2018/2/layout/IconVerticalSolidList"/>
    <dgm:cxn modelId="{777B6A8C-0F16-490C-89B9-87FE688CFF54}" type="presParOf" srcId="{91FAB809-B02E-4C0B-8286-C29964F685FE}" destId="{F988CA37-7380-4D98-8B57-910A73EAE3AC}" srcOrd="4" destOrd="0" presId="urn:microsoft.com/office/officeart/2018/2/layout/IconVerticalSolidList"/>
    <dgm:cxn modelId="{7FFC56BC-26ED-4F8D-9F1D-34433AD4A046}" type="presParOf" srcId="{F988CA37-7380-4D98-8B57-910A73EAE3AC}" destId="{12F7B373-3CC4-4C5C-A71B-E1DBCC54C735}" srcOrd="0" destOrd="0" presId="urn:microsoft.com/office/officeart/2018/2/layout/IconVerticalSolidList"/>
    <dgm:cxn modelId="{FA2DA583-C947-4BE9-9CEC-40CEE9D0C17D}" type="presParOf" srcId="{F988CA37-7380-4D98-8B57-910A73EAE3AC}" destId="{C230504D-A38A-4107-8425-A9282EE9F0B0}" srcOrd="1" destOrd="0" presId="urn:microsoft.com/office/officeart/2018/2/layout/IconVerticalSolidList"/>
    <dgm:cxn modelId="{24701A9B-11E0-4991-B8A0-968644E1896B}" type="presParOf" srcId="{F988CA37-7380-4D98-8B57-910A73EAE3AC}" destId="{44EB8B83-C907-4AA2-853D-C7F6900DA27A}" srcOrd="2" destOrd="0" presId="urn:microsoft.com/office/officeart/2018/2/layout/IconVerticalSolidList"/>
    <dgm:cxn modelId="{B6E57891-5FE3-4362-AD2C-A96C7CBFD48C}" type="presParOf" srcId="{F988CA37-7380-4D98-8B57-910A73EAE3AC}" destId="{10370C2A-615D-4376-824E-CB4E2A7B6DE0}" srcOrd="3" destOrd="0" presId="urn:microsoft.com/office/officeart/2018/2/layout/IconVerticalSolidList"/>
    <dgm:cxn modelId="{1F71F5B5-1A0F-412F-8CA5-074095A0A864}" type="presParOf" srcId="{F988CA37-7380-4D98-8B57-910A73EAE3AC}" destId="{2AB3114C-BEE6-42B3-A4EC-D803D8F663C9}"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023911-D85A-48D7-9D99-E4187EA17BAB}">
      <dsp:nvSpPr>
        <dsp:cNvPr id="0" name=""/>
        <dsp:cNvSpPr/>
      </dsp:nvSpPr>
      <dsp:spPr>
        <a:xfrm>
          <a:off x="0" y="908268"/>
          <a:ext cx="6245265" cy="167680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8A99BC-CA91-4D9D-9301-F83A26F864E2}">
      <dsp:nvSpPr>
        <dsp:cNvPr id="0" name=""/>
        <dsp:cNvSpPr/>
      </dsp:nvSpPr>
      <dsp:spPr>
        <a:xfrm>
          <a:off x="507233" y="1285549"/>
          <a:ext cx="922242" cy="92224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8AECFD2-91C0-4E8B-84BB-44E612EDBCF4}">
      <dsp:nvSpPr>
        <dsp:cNvPr id="0" name=""/>
        <dsp:cNvSpPr/>
      </dsp:nvSpPr>
      <dsp:spPr>
        <a:xfrm>
          <a:off x="1936708" y="908268"/>
          <a:ext cx="4308556" cy="16768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462" tIns="177462" rIns="177462" bIns="177462" numCol="1" spcCol="1270" anchor="ctr" anchorCtr="0">
          <a:noAutofit/>
        </a:bodyPr>
        <a:lstStyle/>
        <a:p>
          <a:pPr marL="0" lvl="0" indent="0" algn="l" defTabSz="1111250">
            <a:lnSpc>
              <a:spcPct val="90000"/>
            </a:lnSpc>
            <a:spcBef>
              <a:spcPct val="0"/>
            </a:spcBef>
            <a:spcAft>
              <a:spcPct val="35000"/>
            </a:spcAft>
            <a:buNone/>
          </a:pPr>
          <a:r>
            <a:rPr lang="en-US" sz="2500" kern="1200" dirty="0"/>
            <a:t>The next slides get a little complex. We’re talking AI. </a:t>
          </a:r>
        </a:p>
      </dsp:txBody>
      <dsp:txXfrm>
        <a:off x="1936708" y="908268"/>
        <a:ext cx="4308556" cy="1676804"/>
      </dsp:txXfrm>
    </dsp:sp>
    <dsp:sp modelId="{9C22C9C6-8F2F-4CAA-9E8C-5D28B0F09330}">
      <dsp:nvSpPr>
        <dsp:cNvPr id="0" name=""/>
        <dsp:cNvSpPr/>
      </dsp:nvSpPr>
      <dsp:spPr>
        <a:xfrm>
          <a:off x="0" y="3004274"/>
          <a:ext cx="6245265" cy="167680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1A20F8-92B5-4B2B-9AD5-2A7FFDEA1009}">
      <dsp:nvSpPr>
        <dsp:cNvPr id="0" name=""/>
        <dsp:cNvSpPr/>
      </dsp:nvSpPr>
      <dsp:spPr>
        <a:xfrm>
          <a:off x="507233" y="3381554"/>
          <a:ext cx="922242" cy="92224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66E4C44-F971-40CA-9B5C-8E72F981B98B}">
      <dsp:nvSpPr>
        <dsp:cNvPr id="0" name=""/>
        <dsp:cNvSpPr/>
      </dsp:nvSpPr>
      <dsp:spPr>
        <a:xfrm>
          <a:off x="1936708" y="3004274"/>
          <a:ext cx="4308556" cy="16768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462" tIns="177462" rIns="177462" bIns="177462" numCol="1" spcCol="1270" anchor="ctr" anchorCtr="0">
          <a:noAutofit/>
        </a:bodyPr>
        <a:lstStyle/>
        <a:p>
          <a:pPr marL="0" lvl="0" indent="0" algn="l" defTabSz="1111250">
            <a:lnSpc>
              <a:spcPct val="90000"/>
            </a:lnSpc>
            <a:spcBef>
              <a:spcPct val="0"/>
            </a:spcBef>
            <a:spcAft>
              <a:spcPct val="35000"/>
            </a:spcAft>
            <a:buNone/>
          </a:pPr>
          <a:r>
            <a:rPr lang="en-US" sz="2500" kern="1200"/>
            <a:t>But you CAN do it. </a:t>
          </a:r>
        </a:p>
      </dsp:txBody>
      <dsp:txXfrm>
        <a:off x="1936708" y="3004274"/>
        <a:ext cx="4308556" cy="16768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AAB366-5956-4C0D-ACEA-4D37743E849B}">
      <dsp:nvSpPr>
        <dsp:cNvPr id="0" name=""/>
        <dsp:cNvSpPr/>
      </dsp:nvSpPr>
      <dsp:spPr>
        <a:xfrm>
          <a:off x="0" y="448"/>
          <a:ext cx="10550024" cy="105041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713D72-D1C5-4CAA-8C75-D450B10FFD35}">
      <dsp:nvSpPr>
        <dsp:cNvPr id="0" name=""/>
        <dsp:cNvSpPr/>
      </dsp:nvSpPr>
      <dsp:spPr>
        <a:xfrm>
          <a:off x="317750" y="236792"/>
          <a:ext cx="577727" cy="57772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976CDC-44B9-43E8-B0BA-E00BC73BCE22}">
      <dsp:nvSpPr>
        <dsp:cNvPr id="0" name=""/>
        <dsp:cNvSpPr/>
      </dsp:nvSpPr>
      <dsp:spPr>
        <a:xfrm>
          <a:off x="1213228" y="448"/>
          <a:ext cx="4747511" cy="10504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169" tIns="111169" rIns="111169" bIns="111169" numCol="1" spcCol="1270" anchor="ctr" anchorCtr="0">
          <a:noAutofit/>
        </a:bodyPr>
        <a:lstStyle/>
        <a:p>
          <a:pPr marL="0" lvl="0" indent="0" algn="l" defTabSz="977900">
            <a:lnSpc>
              <a:spcPct val="100000"/>
            </a:lnSpc>
            <a:spcBef>
              <a:spcPct val="0"/>
            </a:spcBef>
            <a:spcAft>
              <a:spcPct val="35000"/>
            </a:spcAft>
            <a:buNone/>
          </a:pPr>
          <a:r>
            <a:rPr lang="en-GB" sz="2200" kern="1200" dirty="0"/>
            <a:t>Cloud v Edge</a:t>
          </a:r>
        </a:p>
        <a:p>
          <a:pPr marL="0" lvl="0" indent="0" algn="l" defTabSz="977900">
            <a:lnSpc>
              <a:spcPct val="100000"/>
            </a:lnSpc>
            <a:spcBef>
              <a:spcPct val="0"/>
            </a:spcBef>
            <a:spcAft>
              <a:spcPct val="35000"/>
            </a:spcAft>
            <a:buNone/>
          </a:pPr>
          <a:r>
            <a:rPr lang="en-GB" sz="2200" b="1" kern="1200" dirty="0"/>
            <a:t>Cloud-based analytics.</a:t>
          </a:r>
          <a:endParaRPr lang="en-US" sz="2200" b="1" kern="1200" dirty="0"/>
        </a:p>
      </dsp:txBody>
      <dsp:txXfrm>
        <a:off x="1213228" y="448"/>
        <a:ext cx="4747511" cy="1050414"/>
      </dsp:txXfrm>
    </dsp:sp>
    <dsp:sp modelId="{17245030-F8BB-49D2-89BA-952472A1A428}">
      <dsp:nvSpPr>
        <dsp:cNvPr id="0" name=""/>
        <dsp:cNvSpPr/>
      </dsp:nvSpPr>
      <dsp:spPr>
        <a:xfrm>
          <a:off x="5960739" y="448"/>
          <a:ext cx="4589285" cy="10504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169" tIns="111169" rIns="111169" bIns="111169" numCol="1" spcCol="1270" anchor="ctr" anchorCtr="0">
          <a:noAutofit/>
        </a:bodyPr>
        <a:lstStyle/>
        <a:p>
          <a:pPr marL="0" lvl="0" indent="0" algn="l" defTabSz="533400">
            <a:lnSpc>
              <a:spcPct val="100000"/>
            </a:lnSpc>
            <a:spcBef>
              <a:spcPct val="0"/>
            </a:spcBef>
            <a:spcAft>
              <a:spcPct val="35000"/>
            </a:spcAft>
            <a:buNone/>
          </a:pPr>
          <a:r>
            <a:rPr lang="en-GB" sz="1200" kern="1200" dirty="0"/>
            <a:t>Each business will get feedback based on aggregated anonymised data from many businesses, but no business can have access to data of other businesses. Therefore, the analysis must happen in the cloud and upon anonymised versions of users’ data.</a:t>
          </a:r>
          <a:endParaRPr lang="en-US" sz="1200" kern="1200" dirty="0"/>
        </a:p>
      </dsp:txBody>
      <dsp:txXfrm>
        <a:off x="5960739" y="448"/>
        <a:ext cx="4589285" cy="1050414"/>
      </dsp:txXfrm>
    </dsp:sp>
    <dsp:sp modelId="{B6E610E4-F93A-40BE-8C22-7F2573B4FDCB}">
      <dsp:nvSpPr>
        <dsp:cNvPr id="0" name=""/>
        <dsp:cNvSpPr/>
      </dsp:nvSpPr>
      <dsp:spPr>
        <a:xfrm>
          <a:off x="0" y="1313466"/>
          <a:ext cx="10550024" cy="105041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8FF2EC-4BBC-4828-AB21-CDF1B13CB688}">
      <dsp:nvSpPr>
        <dsp:cNvPr id="0" name=""/>
        <dsp:cNvSpPr/>
      </dsp:nvSpPr>
      <dsp:spPr>
        <a:xfrm>
          <a:off x="317750" y="1549810"/>
          <a:ext cx="577727" cy="57772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8C9C7F-202C-44B0-8FD5-94790927F526}">
      <dsp:nvSpPr>
        <dsp:cNvPr id="0" name=""/>
        <dsp:cNvSpPr/>
      </dsp:nvSpPr>
      <dsp:spPr>
        <a:xfrm>
          <a:off x="1213228" y="1313466"/>
          <a:ext cx="4747511" cy="10504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169" tIns="111169" rIns="111169" bIns="111169" numCol="1" spcCol="1270" anchor="ctr" anchorCtr="0">
          <a:noAutofit/>
        </a:bodyPr>
        <a:lstStyle/>
        <a:p>
          <a:pPr marL="0" lvl="0" indent="0" algn="l" defTabSz="977900">
            <a:lnSpc>
              <a:spcPct val="100000"/>
            </a:lnSpc>
            <a:spcBef>
              <a:spcPct val="0"/>
            </a:spcBef>
            <a:spcAft>
              <a:spcPct val="35000"/>
            </a:spcAft>
            <a:buNone/>
          </a:pPr>
          <a:r>
            <a:rPr lang="en-GB" sz="2200" kern="1200" dirty="0"/>
            <a:t>Offline v online learning</a:t>
          </a:r>
        </a:p>
        <a:p>
          <a:pPr marL="0" lvl="0" indent="0" algn="l" defTabSz="977900">
            <a:lnSpc>
              <a:spcPct val="100000"/>
            </a:lnSpc>
            <a:spcBef>
              <a:spcPct val="0"/>
            </a:spcBef>
            <a:spcAft>
              <a:spcPct val="35000"/>
            </a:spcAft>
            <a:buNone/>
          </a:pPr>
          <a:r>
            <a:rPr lang="en-GB" sz="2200" b="1" kern="1200" dirty="0"/>
            <a:t>Offline.</a:t>
          </a:r>
          <a:endParaRPr lang="en-US" sz="2200" b="1" kern="1200" dirty="0"/>
        </a:p>
      </dsp:txBody>
      <dsp:txXfrm>
        <a:off x="1213228" y="1313466"/>
        <a:ext cx="4747511" cy="1050414"/>
      </dsp:txXfrm>
    </dsp:sp>
    <dsp:sp modelId="{6203F34B-8792-4FB2-8C8A-A707852D3203}">
      <dsp:nvSpPr>
        <dsp:cNvPr id="0" name=""/>
        <dsp:cNvSpPr/>
      </dsp:nvSpPr>
      <dsp:spPr>
        <a:xfrm>
          <a:off x="5960739" y="1313466"/>
          <a:ext cx="4589285" cy="10504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169" tIns="111169" rIns="111169" bIns="111169" numCol="1" spcCol="1270" anchor="ctr" anchorCtr="0">
          <a:noAutofit/>
        </a:bodyPr>
        <a:lstStyle/>
        <a:p>
          <a:pPr marL="0" lvl="0" indent="0" algn="l" defTabSz="533400">
            <a:lnSpc>
              <a:spcPct val="100000"/>
            </a:lnSpc>
            <a:spcBef>
              <a:spcPct val="0"/>
            </a:spcBef>
            <a:spcAft>
              <a:spcPct val="35000"/>
            </a:spcAft>
            <a:buNone/>
          </a:pPr>
          <a:r>
            <a:rPr lang="en-GB" sz="1200" kern="1200" dirty="0"/>
            <a:t>System will need to process copious amounts of data. It would be expensive to provide continuous analysis.</a:t>
          </a:r>
          <a:endParaRPr lang="en-US" sz="1200" kern="1200" dirty="0"/>
        </a:p>
      </dsp:txBody>
      <dsp:txXfrm>
        <a:off x="5960739" y="1313466"/>
        <a:ext cx="4589285" cy="1050414"/>
      </dsp:txXfrm>
    </dsp:sp>
    <dsp:sp modelId="{12F7B373-3CC4-4C5C-A71B-E1DBCC54C735}">
      <dsp:nvSpPr>
        <dsp:cNvPr id="0" name=""/>
        <dsp:cNvSpPr/>
      </dsp:nvSpPr>
      <dsp:spPr>
        <a:xfrm>
          <a:off x="0" y="2626484"/>
          <a:ext cx="10550024" cy="105041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30504D-A38A-4107-8425-A9282EE9F0B0}">
      <dsp:nvSpPr>
        <dsp:cNvPr id="0" name=""/>
        <dsp:cNvSpPr/>
      </dsp:nvSpPr>
      <dsp:spPr>
        <a:xfrm>
          <a:off x="317750" y="2862827"/>
          <a:ext cx="577727" cy="57772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370C2A-615D-4376-824E-CB4E2A7B6DE0}">
      <dsp:nvSpPr>
        <dsp:cNvPr id="0" name=""/>
        <dsp:cNvSpPr/>
      </dsp:nvSpPr>
      <dsp:spPr>
        <a:xfrm>
          <a:off x="1213228" y="2626484"/>
          <a:ext cx="4747511" cy="10504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169" tIns="111169" rIns="111169" bIns="111169" numCol="1" spcCol="1270" anchor="ctr" anchorCtr="0">
          <a:noAutofit/>
        </a:bodyPr>
        <a:lstStyle/>
        <a:p>
          <a:pPr marL="0" lvl="0" indent="0" algn="l" defTabSz="977900">
            <a:lnSpc>
              <a:spcPct val="100000"/>
            </a:lnSpc>
            <a:spcBef>
              <a:spcPct val="0"/>
            </a:spcBef>
            <a:spcAft>
              <a:spcPct val="35000"/>
            </a:spcAft>
            <a:buNone/>
          </a:pPr>
          <a:r>
            <a:rPr lang="en-GB" sz="2200" kern="1200" dirty="0"/>
            <a:t>Batch v online predictions</a:t>
          </a:r>
        </a:p>
        <a:p>
          <a:pPr marL="0" lvl="0" indent="0" algn="l" defTabSz="977900">
            <a:lnSpc>
              <a:spcPct val="100000"/>
            </a:lnSpc>
            <a:spcBef>
              <a:spcPct val="0"/>
            </a:spcBef>
            <a:spcAft>
              <a:spcPct val="35000"/>
            </a:spcAft>
            <a:buNone/>
          </a:pPr>
          <a:r>
            <a:rPr lang="en-GB" sz="2200" b="1" kern="1200" dirty="0"/>
            <a:t>Batch.</a:t>
          </a:r>
          <a:endParaRPr lang="en-US" sz="2200" b="1" kern="1200" dirty="0"/>
        </a:p>
      </dsp:txBody>
      <dsp:txXfrm>
        <a:off x="1213228" y="2626484"/>
        <a:ext cx="4747511" cy="1050414"/>
      </dsp:txXfrm>
    </dsp:sp>
    <dsp:sp modelId="{2AB3114C-BEE6-42B3-A4EC-D803D8F663C9}">
      <dsp:nvSpPr>
        <dsp:cNvPr id="0" name=""/>
        <dsp:cNvSpPr/>
      </dsp:nvSpPr>
      <dsp:spPr>
        <a:xfrm>
          <a:off x="5960739" y="2626484"/>
          <a:ext cx="4589285" cy="10504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169" tIns="111169" rIns="111169" bIns="111169" numCol="1" spcCol="1270" anchor="ctr" anchorCtr="0">
          <a:noAutofit/>
        </a:bodyPr>
        <a:lstStyle/>
        <a:p>
          <a:pPr marL="0" lvl="0" indent="0" algn="l" defTabSz="533400">
            <a:lnSpc>
              <a:spcPct val="100000"/>
            </a:lnSpc>
            <a:spcBef>
              <a:spcPct val="0"/>
            </a:spcBef>
            <a:spcAft>
              <a:spcPct val="35000"/>
            </a:spcAft>
            <a:buNone/>
          </a:pPr>
          <a:r>
            <a:rPr lang="en-GB" sz="1200" kern="1200" dirty="0"/>
            <a:t>System needs to offer periodical updates, perhaps hourly, even, but updates are only meaningful is sufficient data has accumulated. Until then, the previous state-of-affairs remains valid.</a:t>
          </a:r>
          <a:endParaRPr lang="en-US" sz="1200" kern="1200" dirty="0"/>
        </a:p>
      </dsp:txBody>
      <dsp:txXfrm>
        <a:off x="5960739" y="2626484"/>
        <a:ext cx="4589285" cy="105041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FFCAE-6564-4426-960E-D46932975B3E}"/>
              </a:ext>
            </a:extLst>
          </p:cNvPr>
          <p:cNvSpPr>
            <a:spLocks noGrp="1"/>
          </p:cNvSpPr>
          <p:nvPr>
            <p:ph type="ctrTitle"/>
          </p:nvPr>
        </p:nvSpPr>
        <p:spPr>
          <a:xfrm>
            <a:off x="1524000" y="1122363"/>
            <a:ext cx="9144000" cy="2387600"/>
          </a:xfrm>
        </p:spPr>
        <p:txBody>
          <a:bodyPr anchor="b">
            <a:normAutofit/>
          </a:bodyPr>
          <a:lstStyle>
            <a:lvl1pPr algn="ctr">
              <a:defRPr sz="7200">
                <a:latin typeface="Agency FB" panose="020B0503020202020204" pitchFamily="34" charset="0"/>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0A35F79D-10EE-4E4E-8103-EE13098623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70C51ED-F693-4299-93AC-AD6C2101A7A5}"/>
              </a:ext>
            </a:extLst>
          </p:cNvPr>
          <p:cNvSpPr>
            <a:spLocks noGrp="1"/>
          </p:cNvSpPr>
          <p:nvPr>
            <p:ph type="dt" sz="half" idx="10"/>
          </p:nvPr>
        </p:nvSpPr>
        <p:spPr/>
        <p:txBody>
          <a:bodyPr/>
          <a:lstStyle/>
          <a:p>
            <a:fld id="{C3EE0017-27B4-44B5-8BBD-90ACDB40B7E5}" type="datetimeFigureOut">
              <a:rPr lang="en-GB" smtClean="0"/>
              <a:t>06/08/2022</a:t>
            </a:fld>
            <a:endParaRPr lang="en-GB"/>
          </a:p>
        </p:txBody>
      </p:sp>
      <p:sp>
        <p:nvSpPr>
          <p:cNvPr id="5" name="Footer Placeholder 4">
            <a:extLst>
              <a:ext uri="{FF2B5EF4-FFF2-40B4-BE49-F238E27FC236}">
                <a16:creationId xmlns:a16="http://schemas.microsoft.com/office/drawing/2014/main" id="{EF24252C-59A1-4252-9877-003BAC1CC51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7216BD5-FA37-4877-A3EE-F355B35AB024}"/>
              </a:ext>
            </a:extLst>
          </p:cNvPr>
          <p:cNvSpPr>
            <a:spLocks noGrp="1"/>
          </p:cNvSpPr>
          <p:nvPr>
            <p:ph type="sldNum" sz="quarter" idx="12"/>
          </p:nvPr>
        </p:nvSpPr>
        <p:spPr/>
        <p:txBody>
          <a:bodyPr/>
          <a:lstStyle/>
          <a:p>
            <a:fld id="{B316ED4E-AB7B-4D4E-978A-CADC14D1D58F}" type="slidenum">
              <a:rPr lang="en-GB" smtClean="0"/>
              <a:t>‹#›</a:t>
            </a:fld>
            <a:endParaRPr lang="en-GB"/>
          </a:p>
        </p:txBody>
      </p:sp>
    </p:spTree>
    <p:extLst>
      <p:ext uri="{BB962C8B-B14F-4D97-AF65-F5344CB8AC3E}">
        <p14:creationId xmlns:p14="http://schemas.microsoft.com/office/powerpoint/2010/main" val="1253489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E5E40-D185-42C9-BDD9-7E91BF6AF1F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B0CD9EA-7884-4345-98A1-4892D9057F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53FD5DD-A15C-47FF-8964-B68490F8AD5E}"/>
              </a:ext>
            </a:extLst>
          </p:cNvPr>
          <p:cNvSpPr>
            <a:spLocks noGrp="1"/>
          </p:cNvSpPr>
          <p:nvPr>
            <p:ph type="dt" sz="half" idx="10"/>
          </p:nvPr>
        </p:nvSpPr>
        <p:spPr/>
        <p:txBody>
          <a:bodyPr/>
          <a:lstStyle/>
          <a:p>
            <a:fld id="{C3EE0017-27B4-44B5-8BBD-90ACDB40B7E5}" type="datetimeFigureOut">
              <a:rPr lang="en-GB" smtClean="0"/>
              <a:t>06/08/2022</a:t>
            </a:fld>
            <a:endParaRPr lang="en-GB"/>
          </a:p>
        </p:txBody>
      </p:sp>
      <p:sp>
        <p:nvSpPr>
          <p:cNvPr id="5" name="Footer Placeholder 4">
            <a:extLst>
              <a:ext uri="{FF2B5EF4-FFF2-40B4-BE49-F238E27FC236}">
                <a16:creationId xmlns:a16="http://schemas.microsoft.com/office/drawing/2014/main" id="{E2C3E840-423C-43A0-8E93-BA73C6C9798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18B8711-99F9-49DB-98BF-C330E022FC26}"/>
              </a:ext>
            </a:extLst>
          </p:cNvPr>
          <p:cNvSpPr>
            <a:spLocks noGrp="1"/>
          </p:cNvSpPr>
          <p:nvPr>
            <p:ph type="sldNum" sz="quarter" idx="12"/>
          </p:nvPr>
        </p:nvSpPr>
        <p:spPr/>
        <p:txBody>
          <a:bodyPr/>
          <a:lstStyle/>
          <a:p>
            <a:fld id="{B316ED4E-AB7B-4D4E-978A-CADC14D1D58F}" type="slidenum">
              <a:rPr lang="en-GB" smtClean="0"/>
              <a:t>‹#›</a:t>
            </a:fld>
            <a:endParaRPr lang="en-GB"/>
          </a:p>
        </p:txBody>
      </p:sp>
    </p:spTree>
    <p:extLst>
      <p:ext uri="{BB962C8B-B14F-4D97-AF65-F5344CB8AC3E}">
        <p14:creationId xmlns:p14="http://schemas.microsoft.com/office/powerpoint/2010/main" val="3278993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1911C-5683-40D6-8669-BD02B222AC74}"/>
              </a:ext>
            </a:extLst>
          </p:cNvPr>
          <p:cNvSpPr>
            <a:spLocks noGrp="1"/>
          </p:cNvSpPr>
          <p:nvPr>
            <p:ph type="title"/>
          </p:nvPr>
        </p:nvSpPr>
        <p:spPr>
          <a:xfrm>
            <a:off x="831850" y="1709738"/>
            <a:ext cx="10515600" cy="2852737"/>
          </a:xfrm>
        </p:spPr>
        <p:txBody>
          <a:bodyPr anchor="b">
            <a:normAutofit/>
          </a:bodyPr>
          <a:lstStyle>
            <a:lvl1pPr>
              <a:defRPr sz="7200">
                <a:latin typeface="Agency FB" panose="020B0503020202020204" pitchFamily="34" charset="0"/>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700656B-751C-4B87-81CE-5C90BDE070B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E220A2-9A2F-4454-A07F-E65A3E33F21D}"/>
              </a:ext>
            </a:extLst>
          </p:cNvPr>
          <p:cNvSpPr>
            <a:spLocks noGrp="1"/>
          </p:cNvSpPr>
          <p:nvPr>
            <p:ph type="dt" sz="half" idx="10"/>
          </p:nvPr>
        </p:nvSpPr>
        <p:spPr/>
        <p:txBody>
          <a:bodyPr/>
          <a:lstStyle/>
          <a:p>
            <a:fld id="{C3EE0017-27B4-44B5-8BBD-90ACDB40B7E5}" type="datetimeFigureOut">
              <a:rPr lang="en-GB" smtClean="0"/>
              <a:t>06/08/2022</a:t>
            </a:fld>
            <a:endParaRPr lang="en-GB"/>
          </a:p>
        </p:txBody>
      </p:sp>
      <p:sp>
        <p:nvSpPr>
          <p:cNvPr id="5" name="Footer Placeholder 4">
            <a:extLst>
              <a:ext uri="{FF2B5EF4-FFF2-40B4-BE49-F238E27FC236}">
                <a16:creationId xmlns:a16="http://schemas.microsoft.com/office/drawing/2014/main" id="{CE4D2C45-B3EA-4AA0-9BB8-925E2A00A6C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CBA5C6D-336F-4704-81F7-13B27EF2A455}"/>
              </a:ext>
            </a:extLst>
          </p:cNvPr>
          <p:cNvSpPr>
            <a:spLocks noGrp="1"/>
          </p:cNvSpPr>
          <p:nvPr>
            <p:ph type="sldNum" sz="quarter" idx="12"/>
          </p:nvPr>
        </p:nvSpPr>
        <p:spPr/>
        <p:txBody>
          <a:bodyPr/>
          <a:lstStyle/>
          <a:p>
            <a:fld id="{B316ED4E-AB7B-4D4E-978A-CADC14D1D58F}" type="slidenum">
              <a:rPr lang="en-GB" smtClean="0"/>
              <a:t>‹#›</a:t>
            </a:fld>
            <a:endParaRPr lang="en-GB"/>
          </a:p>
        </p:txBody>
      </p:sp>
    </p:spTree>
    <p:extLst>
      <p:ext uri="{BB962C8B-B14F-4D97-AF65-F5344CB8AC3E}">
        <p14:creationId xmlns:p14="http://schemas.microsoft.com/office/powerpoint/2010/main" val="1609046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4E7B1-23A5-4170-A460-15CA9F35D31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DFBCFC8-A338-4990-A00D-FE673FDC29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3FCF2E1-3CAF-47AA-B075-9E2E1044A5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9129701-2942-4649-9A22-AFC3C466DF86}"/>
              </a:ext>
            </a:extLst>
          </p:cNvPr>
          <p:cNvSpPr>
            <a:spLocks noGrp="1"/>
          </p:cNvSpPr>
          <p:nvPr>
            <p:ph type="dt" sz="half" idx="10"/>
          </p:nvPr>
        </p:nvSpPr>
        <p:spPr/>
        <p:txBody>
          <a:bodyPr/>
          <a:lstStyle/>
          <a:p>
            <a:fld id="{C3EE0017-27B4-44B5-8BBD-90ACDB40B7E5}" type="datetimeFigureOut">
              <a:rPr lang="en-GB" smtClean="0"/>
              <a:t>06/08/2022</a:t>
            </a:fld>
            <a:endParaRPr lang="en-GB"/>
          </a:p>
        </p:txBody>
      </p:sp>
      <p:sp>
        <p:nvSpPr>
          <p:cNvPr id="6" name="Footer Placeholder 5">
            <a:extLst>
              <a:ext uri="{FF2B5EF4-FFF2-40B4-BE49-F238E27FC236}">
                <a16:creationId xmlns:a16="http://schemas.microsoft.com/office/drawing/2014/main" id="{72E50CAA-643F-4169-B5E6-B9D9C709F75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0CC7323-4F83-41EA-87B0-E4F6D4AF98B4}"/>
              </a:ext>
            </a:extLst>
          </p:cNvPr>
          <p:cNvSpPr>
            <a:spLocks noGrp="1"/>
          </p:cNvSpPr>
          <p:nvPr>
            <p:ph type="sldNum" sz="quarter" idx="12"/>
          </p:nvPr>
        </p:nvSpPr>
        <p:spPr/>
        <p:txBody>
          <a:bodyPr/>
          <a:lstStyle/>
          <a:p>
            <a:fld id="{B316ED4E-AB7B-4D4E-978A-CADC14D1D58F}" type="slidenum">
              <a:rPr lang="en-GB" smtClean="0"/>
              <a:t>‹#›</a:t>
            </a:fld>
            <a:endParaRPr lang="en-GB"/>
          </a:p>
        </p:txBody>
      </p:sp>
    </p:spTree>
    <p:extLst>
      <p:ext uri="{BB962C8B-B14F-4D97-AF65-F5344CB8AC3E}">
        <p14:creationId xmlns:p14="http://schemas.microsoft.com/office/powerpoint/2010/main" val="2789046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2D48B-865F-4346-BD32-E50B977DCEE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276B42E-C63E-4C43-8239-D842867F7F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C71282-3BE8-47C8-9518-2F376DBF66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62BAA78-2F0C-4CE9-975F-8D6A628FA9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EAD5E89-63F5-43F7-8082-B438A0C823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08AEB9D-5877-47B1-90D6-0BB6A594C75E}"/>
              </a:ext>
            </a:extLst>
          </p:cNvPr>
          <p:cNvSpPr>
            <a:spLocks noGrp="1"/>
          </p:cNvSpPr>
          <p:nvPr>
            <p:ph type="dt" sz="half" idx="10"/>
          </p:nvPr>
        </p:nvSpPr>
        <p:spPr/>
        <p:txBody>
          <a:bodyPr/>
          <a:lstStyle>
            <a:lvl1pPr>
              <a:defRPr>
                <a:latin typeface="Agency FB" panose="020B0503020202020204" pitchFamily="34" charset="0"/>
              </a:defRPr>
            </a:lvl1pPr>
          </a:lstStyle>
          <a:p>
            <a:fld id="{C3EE0017-27B4-44B5-8BBD-90ACDB40B7E5}" type="datetimeFigureOut">
              <a:rPr lang="en-GB" smtClean="0"/>
              <a:pPr/>
              <a:t>06/08/2022</a:t>
            </a:fld>
            <a:endParaRPr lang="en-GB"/>
          </a:p>
        </p:txBody>
      </p:sp>
      <p:sp>
        <p:nvSpPr>
          <p:cNvPr id="8" name="Footer Placeholder 7">
            <a:extLst>
              <a:ext uri="{FF2B5EF4-FFF2-40B4-BE49-F238E27FC236}">
                <a16:creationId xmlns:a16="http://schemas.microsoft.com/office/drawing/2014/main" id="{EAEFD448-741B-4138-A07B-043526D42120}"/>
              </a:ext>
            </a:extLst>
          </p:cNvPr>
          <p:cNvSpPr>
            <a:spLocks noGrp="1"/>
          </p:cNvSpPr>
          <p:nvPr>
            <p:ph type="ftr" sz="quarter" idx="11"/>
          </p:nvPr>
        </p:nvSpPr>
        <p:spPr/>
        <p:txBody>
          <a:bodyPr/>
          <a:lstStyle>
            <a:lvl1pPr>
              <a:defRPr>
                <a:latin typeface="Agency FB" panose="020B0503020202020204" pitchFamily="34" charset="0"/>
              </a:defRPr>
            </a:lvl1pPr>
          </a:lstStyle>
          <a:p>
            <a:endParaRPr lang="en-GB"/>
          </a:p>
        </p:txBody>
      </p:sp>
      <p:sp>
        <p:nvSpPr>
          <p:cNvPr id="9" name="Slide Number Placeholder 8">
            <a:extLst>
              <a:ext uri="{FF2B5EF4-FFF2-40B4-BE49-F238E27FC236}">
                <a16:creationId xmlns:a16="http://schemas.microsoft.com/office/drawing/2014/main" id="{86FCE7F7-A13B-43E6-B487-1C5B2F15D958}"/>
              </a:ext>
            </a:extLst>
          </p:cNvPr>
          <p:cNvSpPr>
            <a:spLocks noGrp="1"/>
          </p:cNvSpPr>
          <p:nvPr>
            <p:ph type="sldNum" sz="quarter" idx="12"/>
          </p:nvPr>
        </p:nvSpPr>
        <p:spPr/>
        <p:txBody>
          <a:bodyPr/>
          <a:lstStyle>
            <a:lvl1pPr>
              <a:defRPr>
                <a:latin typeface="Agency FB" panose="020B0503020202020204" pitchFamily="34" charset="0"/>
              </a:defRPr>
            </a:lvl1pPr>
          </a:lstStyle>
          <a:p>
            <a:fld id="{B316ED4E-AB7B-4D4E-978A-CADC14D1D58F}" type="slidenum">
              <a:rPr lang="en-GB" smtClean="0"/>
              <a:pPr/>
              <a:t>‹#›</a:t>
            </a:fld>
            <a:endParaRPr lang="en-GB"/>
          </a:p>
        </p:txBody>
      </p:sp>
    </p:spTree>
    <p:extLst>
      <p:ext uri="{BB962C8B-B14F-4D97-AF65-F5344CB8AC3E}">
        <p14:creationId xmlns:p14="http://schemas.microsoft.com/office/powerpoint/2010/main" val="1487076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5741B-543F-4942-9327-D87E48AE3D3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C404E51-6442-45C2-903F-A7444A93FD14}"/>
              </a:ext>
            </a:extLst>
          </p:cNvPr>
          <p:cNvSpPr>
            <a:spLocks noGrp="1"/>
          </p:cNvSpPr>
          <p:nvPr>
            <p:ph type="dt" sz="half" idx="10"/>
          </p:nvPr>
        </p:nvSpPr>
        <p:spPr/>
        <p:txBody>
          <a:bodyPr/>
          <a:lstStyle/>
          <a:p>
            <a:fld id="{C3EE0017-27B4-44B5-8BBD-90ACDB40B7E5}" type="datetimeFigureOut">
              <a:rPr lang="en-GB" smtClean="0"/>
              <a:t>06/08/2022</a:t>
            </a:fld>
            <a:endParaRPr lang="en-GB"/>
          </a:p>
        </p:txBody>
      </p:sp>
      <p:sp>
        <p:nvSpPr>
          <p:cNvPr id="4" name="Footer Placeholder 3">
            <a:extLst>
              <a:ext uri="{FF2B5EF4-FFF2-40B4-BE49-F238E27FC236}">
                <a16:creationId xmlns:a16="http://schemas.microsoft.com/office/drawing/2014/main" id="{3BD0C20C-3F4A-4645-9624-1A4B1815E15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658A59E-3844-4931-BFCD-85AB760B4FC0}"/>
              </a:ext>
            </a:extLst>
          </p:cNvPr>
          <p:cNvSpPr>
            <a:spLocks noGrp="1"/>
          </p:cNvSpPr>
          <p:nvPr>
            <p:ph type="sldNum" sz="quarter" idx="12"/>
          </p:nvPr>
        </p:nvSpPr>
        <p:spPr/>
        <p:txBody>
          <a:bodyPr/>
          <a:lstStyle/>
          <a:p>
            <a:fld id="{B316ED4E-AB7B-4D4E-978A-CADC14D1D58F}" type="slidenum">
              <a:rPr lang="en-GB" smtClean="0"/>
              <a:t>‹#›</a:t>
            </a:fld>
            <a:endParaRPr lang="en-GB"/>
          </a:p>
        </p:txBody>
      </p:sp>
    </p:spTree>
    <p:extLst>
      <p:ext uri="{BB962C8B-B14F-4D97-AF65-F5344CB8AC3E}">
        <p14:creationId xmlns:p14="http://schemas.microsoft.com/office/powerpoint/2010/main" val="558750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FCA44F-4F00-4047-B38E-8BDFA8D83767}"/>
              </a:ext>
            </a:extLst>
          </p:cNvPr>
          <p:cNvSpPr>
            <a:spLocks noGrp="1"/>
          </p:cNvSpPr>
          <p:nvPr>
            <p:ph type="dt" sz="half" idx="10"/>
          </p:nvPr>
        </p:nvSpPr>
        <p:spPr/>
        <p:txBody>
          <a:bodyPr/>
          <a:lstStyle/>
          <a:p>
            <a:fld id="{C3EE0017-27B4-44B5-8BBD-90ACDB40B7E5}" type="datetimeFigureOut">
              <a:rPr lang="en-GB" smtClean="0"/>
              <a:t>06/08/2022</a:t>
            </a:fld>
            <a:endParaRPr lang="en-GB"/>
          </a:p>
        </p:txBody>
      </p:sp>
      <p:sp>
        <p:nvSpPr>
          <p:cNvPr id="3" name="Footer Placeholder 2">
            <a:extLst>
              <a:ext uri="{FF2B5EF4-FFF2-40B4-BE49-F238E27FC236}">
                <a16:creationId xmlns:a16="http://schemas.microsoft.com/office/drawing/2014/main" id="{1D9CC1E6-C34E-481D-98D0-4CB1937EBD7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DFA8508-F324-4017-AE97-2521CA8C55F5}"/>
              </a:ext>
            </a:extLst>
          </p:cNvPr>
          <p:cNvSpPr>
            <a:spLocks noGrp="1"/>
          </p:cNvSpPr>
          <p:nvPr>
            <p:ph type="sldNum" sz="quarter" idx="12"/>
          </p:nvPr>
        </p:nvSpPr>
        <p:spPr/>
        <p:txBody>
          <a:bodyPr/>
          <a:lstStyle/>
          <a:p>
            <a:fld id="{B316ED4E-AB7B-4D4E-978A-CADC14D1D58F}" type="slidenum">
              <a:rPr lang="en-GB" smtClean="0"/>
              <a:t>‹#›</a:t>
            </a:fld>
            <a:endParaRPr lang="en-GB"/>
          </a:p>
        </p:txBody>
      </p:sp>
    </p:spTree>
    <p:extLst>
      <p:ext uri="{BB962C8B-B14F-4D97-AF65-F5344CB8AC3E}">
        <p14:creationId xmlns:p14="http://schemas.microsoft.com/office/powerpoint/2010/main" val="1773008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08F87-BECD-4668-A8A3-BC579C42E5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8E2E0A5-842E-4A12-BC7F-C9FEAE85DE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0EBFBD3-1F85-487B-97A5-CD8040422F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8E2B57-810B-49D3-82F0-293A51AE72A8}"/>
              </a:ext>
            </a:extLst>
          </p:cNvPr>
          <p:cNvSpPr>
            <a:spLocks noGrp="1"/>
          </p:cNvSpPr>
          <p:nvPr>
            <p:ph type="dt" sz="half" idx="10"/>
          </p:nvPr>
        </p:nvSpPr>
        <p:spPr/>
        <p:txBody>
          <a:bodyPr/>
          <a:lstStyle/>
          <a:p>
            <a:fld id="{C3EE0017-27B4-44B5-8BBD-90ACDB40B7E5}" type="datetimeFigureOut">
              <a:rPr lang="en-GB" smtClean="0"/>
              <a:t>06/08/2022</a:t>
            </a:fld>
            <a:endParaRPr lang="en-GB"/>
          </a:p>
        </p:txBody>
      </p:sp>
      <p:sp>
        <p:nvSpPr>
          <p:cNvPr id="6" name="Footer Placeholder 5">
            <a:extLst>
              <a:ext uri="{FF2B5EF4-FFF2-40B4-BE49-F238E27FC236}">
                <a16:creationId xmlns:a16="http://schemas.microsoft.com/office/drawing/2014/main" id="{983E331F-F621-436D-A6B3-652206295A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82BEA58-54AA-4B25-A0BE-677B5C39C8D3}"/>
              </a:ext>
            </a:extLst>
          </p:cNvPr>
          <p:cNvSpPr>
            <a:spLocks noGrp="1"/>
          </p:cNvSpPr>
          <p:nvPr>
            <p:ph type="sldNum" sz="quarter" idx="12"/>
          </p:nvPr>
        </p:nvSpPr>
        <p:spPr/>
        <p:txBody>
          <a:bodyPr/>
          <a:lstStyle/>
          <a:p>
            <a:fld id="{B316ED4E-AB7B-4D4E-978A-CADC14D1D58F}" type="slidenum">
              <a:rPr lang="en-GB" smtClean="0"/>
              <a:t>‹#›</a:t>
            </a:fld>
            <a:endParaRPr lang="en-GB"/>
          </a:p>
        </p:txBody>
      </p:sp>
    </p:spTree>
    <p:extLst>
      <p:ext uri="{BB962C8B-B14F-4D97-AF65-F5344CB8AC3E}">
        <p14:creationId xmlns:p14="http://schemas.microsoft.com/office/powerpoint/2010/main" val="2525993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93530-0EDC-47B7-B52C-94A5B56116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337A9EA-931F-46A3-BDE0-8434288713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435E1E4-7929-4273-BC98-EC34C048D1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7CFAC1-218A-4EF4-91D2-9CE321725804}"/>
              </a:ext>
            </a:extLst>
          </p:cNvPr>
          <p:cNvSpPr>
            <a:spLocks noGrp="1"/>
          </p:cNvSpPr>
          <p:nvPr>
            <p:ph type="dt" sz="half" idx="10"/>
          </p:nvPr>
        </p:nvSpPr>
        <p:spPr/>
        <p:txBody>
          <a:bodyPr/>
          <a:lstStyle/>
          <a:p>
            <a:fld id="{C3EE0017-27B4-44B5-8BBD-90ACDB40B7E5}" type="datetimeFigureOut">
              <a:rPr lang="en-GB" smtClean="0"/>
              <a:t>06/08/2022</a:t>
            </a:fld>
            <a:endParaRPr lang="en-GB"/>
          </a:p>
        </p:txBody>
      </p:sp>
      <p:sp>
        <p:nvSpPr>
          <p:cNvPr id="6" name="Footer Placeholder 5">
            <a:extLst>
              <a:ext uri="{FF2B5EF4-FFF2-40B4-BE49-F238E27FC236}">
                <a16:creationId xmlns:a16="http://schemas.microsoft.com/office/drawing/2014/main" id="{89204537-2162-406B-A627-964C753C300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B9363DB-8FC3-40DD-9EB2-FA552CC64144}"/>
              </a:ext>
            </a:extLst>
          </p:cNvPr>
          <p:cNvSpPr>
            <a:spLocks noGrp="1"/>
          </p:cNvSpPr>
          <p:nvPr>
            <p:ph type="sldNum" sz="quarter" idx="12"/>
          </p:nvPr>
        </p:nvSpPr>
        <p:spPr/>
        <p:txBody>
          <a:bodyPr/>
          <a:lstStyle/>
          <a:p>
            <a:fld id="{B316ED4E-AB7B-4D4E-978A-CADC14D1D58F}" type="slidenum">
              <a:rPr lang="en-GB" smtClean="0"/>
              <a:t>‹#›</a:t>
            </a:fld>
            <a:endParaRPr lang="en-GB"/>
          </a:p>
        </p:txBody>
      </p:sp>
    </p:spTree>
    <p:extLst>
      <p:ext uri="{BB962C8B-B14F-4D97-AF65-F5344CB8AC3E}">
        <p14:creationId xmlns:p14="http://schemas.microsoft.com/office/powerpoint/2010/main" val="995148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6127C-3D9F-4F4B-988F-701BEAB4481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F0CCE30-FD24-4DA6-8EB3-5ADAE4E2A4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9EBE1F9-618C-463E-AEEA-AA3D24030AF3}"/>
              </a:ext>
            </a:extLst>
          </p:cNvPr>
          <p:cNvSpPr>
            <a:spLocks noGrp="1"/>
          </p:cNvSpPr>
          <p:nvPr>
            <p:ph type="dt" sz="half" idx="10"/>
          </p:nvPr>
        </p:nvSpPr>
        <p:spPr/>
        <p:txBody>
          <a:bodyPr/>
          <a:lstStyle/>
          <a:p>
            <a:fld id="{C3EE0017-27B4-44B5-8BBD-90ACDB40B7E5}" type="datetimeFigureOut">
              <a:rPr lang="en-GB" smtClean="0"/>
              <a:t>06/08/2022</a:t>
            </a:fld>
            <a:endParaRPr lang="en-GB"/>
          </a:p>
        </p:txBody>
      </p:sp>
      <p:sp>
        <p:nvSpPr>
          <p:cNvPr id="5" name="Footer Placeholder 4">
            <a:extLst>
              <a:ext uri="{FF2B5EF4-FFF2-40B4-BE49-F238E27FC236}">
                <a16:creationId xmlns:a16="http://schemas.microsoft.com/office/drawing/2014/main" id="{A644EB4A-502D-41D1-9A2C-007CE1381B2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D3B4B9-1531-4893-9A05-487FB4DAC6A3}"/>
              </a:ext>
            </a:extLst>
          </p:cNvPr>
          <p:cNvSpPr>
            <a:spLocks noGrp="1"/>
          </p:cNvSpPr>
          <p:nvPr>
            <p:ph type="sldNum" sz="quarter" idx="12"/>
          </p:nvPr>
        </p:nvSpPr>
        <p:spPr/>
        <p:txBody>
          <a:bodyPr/>
          <a:lstStyle/>
          <a:p>
            <a:fld id="{B316ED4E-AB7B-4D4E-978A-CADC14D1D58F}" type="slidenum">
              <a:rPr lang="en-GB" smtClean="0"/>
              <a:t>‹#›</a:t>
            </a:fld>
            <a:endParaRPr lang="en-GB"/>
          </a:p>
        </p:txBody>
      </p:sp>
    </p:spTree>
    <p:extLst>
      <p:ext uri="{BB962C8B-B14F-4D97-AF65-F5344CB8AC3E}">
        <p14:creationId xmlns:p14="http://schemas.microsoft.com/office/powerpoint/2010/main" val="505408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3043DC-CC53-4592-A61D-CEC550E32F4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74FC7B4-7D61-496C-B185-C518218548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68872B-A6AD-46E3-986F-3D9CDF249C6D}"/>
              </a:ext>
            </a:extLst>
          </p:cNvPr>
          <p:cNvSpPr>
            <a:spLocks noGrp="1"/>
          </p:cNvSpPr>
          <p:nvPr>
            <p:ph type="dt" sz="half" idx="10"/>
          </p:nvPr>
        </p:nvSpPr>
        <p:spPr/>
        <p:txBody>
          <a:bodyPr/>
          <a:lstStyle/>
          <a:p>
            <a:fld id="{C3EE0017-27B4-44B5-8BBD-90ACDB40B7E5}" type="datetimeFigureOut">
              <a:rPr lang="en-GB" smtClean="0"/>
              <a:t>06/08/2022</a:t>
            </a:fld>
            <a:endParaRPr lang="en-GB"/>
          </a:p>
        </p:txBody>
      </p:sp>
      <p:sp>
        <p:nvSpPr>
          <p:cNvPr id="5" name="Footer Placeholder 4">
            <a:extLst>
              <a:ext uri="{FF2B5EF4-FFF2-40B4-BE49-F238E27FC236}">
                <a16:creationId xmlns:a16="http://schemas.microsoft.com/office/drawing/2014/main" id="{C8A954DF-CE2C-41AB-8D41-B0C86E3212E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A804182-9D9C-470C-9A19-52C1D9D3B25A}"/>
              </a:ext>
            </a:extLst>
          </p:cNvPr>
          <p:cNvSpPr>
            <a:spLocks noGrp="1"/>
          </p:cNvSpPr>
          <p:nvPr>
            <p:ph type="sldNum" sz="quarter" idx="12"/>
          </p:nvPr>
        </p:nvSpPr>
        <p:spPr/>
        <p:txBody>
          <a:bodyPr/>
          <a:lstStyle/>
          <a:p>
            <a:fld id="{B316ED4E-AB7B-4D4E-978A-CADC14D1D58F}" type="slidenum">
              <a:rPr lang="en-GB" smtClean="0"/>
              <a:t>‹#›</a:t>
            </a:fld>
            <a:endParaRPr lang="en-GB"/>
          </a:p>
        </p:txBody>
      </p:sp>
    </p:spTree>
    <p:extLst>
      <p:ext uri="{BB962C8B-B14F-4D97-AF65-F5344CB8AC3E}">
        <p14:creationId xmlns:p14="http://schemas.microsoft.com/office/powerpoint/2010/main" val="213602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673FF0-3F61-407A-B140-586EA60DC4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4524FCD-A626-46CC-AF00-C644EC3F4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8687914-9B65-4C37-90D2-F23B057E59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EE0017-27B4-44B5-8BBD-90ACDB40B7E5}" type="datetimeFigureOut">
              <a:rPr lang="en-GB" smtClean="0"/>
              <a:t>06/08/2022</a:t>
            </a:fld>
            <a:endParaRPr lang="en-GB"/>
          </a:p>
        </p:txBody>
      </p:sp>
      <p:sp>
        <p:nvSpPr>
          <p:cNvPr id="5" name="Footer Placeholder 4">
            <a:extLst>
              <a:ext uri="{FF2B5EF4-FFF2-40B4-BE49-F238E27FC236}">
                <a16:creationId xmlns:a16="http://schemas.microsoft.com/office/drawing/2014/main" id="{EF03A89B-8327-49A1-9B4E-BF8832AAE4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A4810496-2582-4758-BFF7-88CC9194D8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16ED4E-AB7B-4D4E-978A-CADC14D1D58F}" type="slidenum">
              <a:rPr lang="en-GB" smtClean="0"/>
              <a:t>‹#›</a:t>
            </a:fld>
            <a:endParaRPr lang="en-GB"/>
          </a:p>
        </p:txBody>
      </p:sp>
    </p:spTree>
    <p:extLst>
      <p:ext uri="{BB962C8B-B14F-4D97-AF65-F5344CB8AC3E}">
        <p14:creationId xmlns:p14="http://schemas.microsoft.com/office/powerpoint/2010/main" val="39484822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F9CBE3F-79A8-4F8F-88D9-DAD03D0D28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7336CA46-1447-4ABB-8CB8-8D0FBC24B63C}"/>
              </a:ext>
            </a:extLst>
          </p:cNvPr>
          <p:cNvSpPr>
            <a:spLocks noGrp="1"/>
          </p:cNvSpPr>
          <p:nvPr>
            <p:ph type="ctrTitle"/>
          </p:nvPr>
        </p:nvSpPr>
        <p:spPr>
          <a:xfrm>
            <a:off x="1522030" y="1209220"/>
            <a:ext cx="9147940" cy="2337238"/>
          </a:xfrm>
        </p:spPr>
        <p:txBody>
          <a:bodyPr anchor="b">
            <a:normAutofit/>
          </a:bodyPr>
          <a:lstStyle/>
          <a:p>
            <a:r>
              <a:rPr lang="fi-FI" dirty="0">
                <a:solidFill>
                  <a:srgbClr val="FFFFFF"/>
                </a:solidFill>
              </a:rPr>
              <a:t>Polyzentrik</a:t>
            </a:r>
            <a:endParaRPr lang="en-GB" sz="5600" dirty="0">
              <a:solidFill>
                <a:srgbClr val="FFFFFF"/>
              </a:solidFill>
            </a:endParaRPr>
          </a:p>
        </p:txBody>
      </p:sp>
      <p:sp>
        <p:nvSpPr>
          <p:cNvPr id="3" name="Content Placeholder 2">
            <a:extLst>
              <a:ext uri="{FF2B5EF4-FFF2-40B4-BE49-F238E27FC236}">
                <a16:creationId xmlns:a16="http://schemas.microsoft.com/office/drawing/2014/main" id="{D817CE29-7BD6-4BEF-BE7A-F9DAA57CAF47}"/>
              </a:ext>
            </a:extLst>
          </p:cNvPr>
          <p:cNvSpPr>
            <a:spLocks noGrp="1"/>
          </p:cNvSpPr>
          <p:nvPr>
            <p:ph type="subTitle" idx="1"/>
          </p:nvPr>
        </p:nvSpPr>
        <p:spPr>
          <a:xfrm>
            <a:off x="1522030" y="3605577"/>
            <a:ext cx="9147940" cy="1324303"/>
          </a:xfrm>
        </p:spPr>
        <p:txBody>
          <a:bodyPr anchor="t">
            <a:normAutofit/>
          </a:bodyPr>
          <a:lstStyle/>
          <a:p>
            <a:r>
              <a:rPr lang="en-GB" sz="2800" dirty="0" err="1">
                <a:solidFill>
                  <a:srgbClr val="FFFFFF"/>
                </a:solidFill>
              </a:rPr>
              <a:t>GovTech</a:t>
            </a:r>
            <a:r>
              <a:rPr lang="en-GB" sz="2800" dirty="0">
                <a:solidFill>
                  <a:srgbClr val="FFFFFF"/>
                </a:solidFill>
              </a:rPr>
              <a:t> for the many</a:t>
            </a:r>
          </a:p>
          <a:p>
            <a:endParaRPr lang="en-GB" sz="2000" dirty="0">
              <a:solidFill>
                <a:srgbClr val="FFFFFF"/>
              </a:solidFill>
            </a:endParaRPr>
          </a:p>
          <a:p>
            <a:r>
              <a:rPr lang="en-GB" sz="2000" dirty="0">
                <a:solidFill>
                  <a:srgbClr val="FFFFFF"/>
                </a:solidFill>
              </a:rPr>
              <a:t>(AI Product Specification)</a:t>
            </a:r>
          </a:p>
        </p:txBody>
      </p:sp>
      <p:sp>
        <p:nvSpPr>
          <p:cNvPr id="10"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1869" y="2383077"/>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12"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24364" y="2265467"/>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24834" y="253720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sp>
        <p:nvSpPr>
          <p:cNvPr id="16"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053" y="2832967"/>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
        <p:nvSpPr>
          <p:cNvPr id="18"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72266" y="28039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20"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3405" y="324249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cxnSp>
        <p:nvCxnSpPr>
          <p:cNvPr id="22" name="Straight Connector 21">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831729"/>
            <a:ext cx="12188952"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0690932A-32FB-980D-382B-C775AC7CD20B}"/>
              </a:ext>
            </a:extLst>
          </p:cNvPr>
          <p:cNvGrpSpPr/>
          <p:nvPr/>
        </p:nvGrpSpPr>
        <p:grpSpPr>
          <a:xfrm>
            <a:off x="7316025" y="1752680"/>
            <a:ext cx="1011302" cy="1025574"/>
            <a:chOff x="5588825" y="4468716"/>
            <a:chExt cx="1011302" cy="1025574"/>
          </a:xfrm>
        </p:grpSpPr>
        <p:cxnSp>
          <p:nvCxnSpPr>
            <p:cNvPr id="78" name="AutoShape 3">
              <a:extLst>
                <a:ext uri="{FF2B5EF4-FFF2-40B4-BE49-F238E27FC236}">
                  <a16:creationId xmlns:a16="http://schemas.microsoft.com/office/drawing/2014/main" id="{91E0B4C9-C531-0C68-B3E8-068E5624E12D}"/>
                </a:ext>
              </a:extLst>
            </p:cNvPr>
            <p:cNvCxnSpPr>
              <a:cxnSpLocks noChangeShapeType="1"/>
            </p:cNvCxnSpPr>
            <p:nvPr/>
          </p:nvCxnSpPr>
          <p:spPr bwMode="auto">
            <a:xfrm>
              <a:off x="6211744" y="4629082"/>
              <a:ext cx="249250" cy="323195"/>
            </a:xfrm>
            <a:prstGeom prst="straightConnector1">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dk1">
                        <a:lumMod val="0"/>
                        <a:lumOff val="0"/>
                      </a:schemeClr>
                    </a:outerShdw>
                  </a:effectLst>
                </a14:hiddenEffects>
              </a:ext>
            </a:extLst>
          </p:spPr>
        </p:cxnSp>
        <p:cxnSp>
          <p:nvCxnSpPr>
            <p:cNvPr id="79" name="AutoShape 4">
              <a:extLst>
                <a:ext uri="{FF2B5EF4-FFF2-40B4-BE49-F238E27FC236}">
                  <a16:creationId xmlns:a16="http://schemas.microsoft.com/office/drawing/2014/main" id="{7CDDF108-C92F-E4E3-04C9-F5D86E2FE638}"/>
                </a:ext>
              </a:extLst>
            </p:cNvPr>
            <p:cNvCxnSpPr>
              <a:cxnSpLocks noChangeShapeType="1"/>
            </p:cNvCxnSpPr>
            <p:nvPr/>
          </p:nvCxnSpPr>
          <p:spPr bwMode="auto">
            <a:xfrm>
              <a:off x="5900559" y="4766231"/>
              <a:ext cx="332059" cy="523396"/>
            </a:xfrm>
            <a:prstGeom prst="straightConnector1">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dk1">
                        <a:lumMod val="0"/>
                        <a:lumOff val="0"/>
                      </a:schemeClr>
                    </a:outerShdw>
                  </a:effectLst>
                </a14:hiddenEffects>
              </a:ext>
            </a:extLst>
          </p:spPr>
        </p:cxnSp>
        <p:cxnSp>
          <p:nvCxnSpPr>
            <p:cNvPr id="80" name="AutoShape 5">
              <a:extLst>
                <a:ext uri="{FF2B5EF4-FFF2-40B4-BE49-F238E27FC236}">
                  <a16:creationId xmlns:a16="http://schemas.microsoft.com/office/drawing/2014/main" id="{CAA29C5C-71FF-BC90-2ED7-613CCE8A8779}"/>
                </a:ext>
              </a:extLst>
            </p:cNvPr>
            <p:cNvCxnSpPr>
              <a:cxnSpLocks noChangeShapeType="1"/>
            </p:cNvCxnSpPr>
            <p:nvPr/>
          </p:nvCxnSpPr>
          <p:spPr bwMode="auto">
            <a:xfrm flipV="1">
              <a:off x="5675604" y="4698553"/>
              <a:ext cx="69054" cy="205813"/>
            </a:xfrm>
            <a:prstGeom prst="straightConnector1">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dk1">
                        <a:lumMod val="0"/>
                        <a:lumOff val="0"/>
                      </a:schemeClr>
                    </a:outerShdw>
                  </a:effectLst>
                </a14:hiddenEffects>
              </a:ext>
            </a:extLst>
          </p:spPr>
        </p:cxnSp>
        <p:cxnSp>
          <p:nvCxnSpPr>
            <p:cNvPr id="81" name="AutoShape 6">
              <a:extLst>
                <a:ext uri="{FF2B5EF4-FFF2-40B4-BE49-F238E27FC236}">
                  <a16:creationId xmlns:a16="http://schemas.microsoft.com/office/drawing/2014/main" id="{AEA2D187-DBC7-0ADA-3894-13C66E754AC6}"/>
                </a:ext>
              </a:extLst>
            </p:cNvPr>
            <p:cNvCxnSpPr>
              <a:cxnSpLocks noChangeShapeType="1"/>
            </p:cNvCxnSpPr>
            <p:nvPr/>
          </p:nvCxnSpPr>
          <p:spPr bwMode="auto">
            <a:xfrm>
              <a:off x="5773743" y="5042966"/>
              <a:ext cx="651252" cy="0"/>
            </a:xfrm>
            <a:prstGeom prst="straightConnector1">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dk1">
                        <a:lumMod val="0"/>
                        <a:lumOff val="0"/>
                      </a:schemeClr>
                    </a:outerShdw>
                  </a:effectLst>
                </a14:hiddenEffects>
              </a:ext>
            </a:extLst>
          </p:spPr>
        </p:cxnSp>
        <p:sp>
          <p:nvSpPr>
            <p:cNvPr id="82" name="Oval 81">
              <a:extLst>
                <a:ext uri="{FF2B5EF4-FFF2-40B4-BE49-F238E27FC236}">
                  <a16:creationId xmlns:a16="http://schemas.microsoft.com/office/drawing/2014/main" id="{832B95EC-18B8-99A9-AA03-C8C84BF87174}"/>
                </a:ext>
              </a:extLst>
            </p:cNvPr>
            <p:cNvSpPr>
              <a:spLocks noChangeArrowheads="1"/>
            </p:cNvSpPr>
            <p:nvPr/>
          </p:nvSpPr>
          <p:spPr bwMode="auto">
            <a:xfrm>
              <a:off x="5731038" y="4564128"/>
              <a:ext cx="199564" cy="242705"/>
            </a:xfrm>
            <a:prstGeom prst="ellipse">
              <a:avLst/>
            </a:prstGeom>
            <a:pattFill prst="dkDnDiag">
              <a:fgClr>
                <a:srgbClr val="00B0F0"/>
              </a:fgClr>
              <a:bgClr>
                <a:srgbClr val="FFFFFF"/>
              </a:bgClr>
            </a:patt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dk1">
                        <a:lumMod val="0"/>
                        <a:lumOff val="0"/>
                      </a:schemeClr>
                    </a:outerShdw>
                  </a:effectLst>
                </a14:hiddenEffects>
              </a:ext>
            </a:extLst>
          </p:spPr>
          <p:txBody>
            <a:bodyPr rot="0" vert="horz" wrap="square" lIns="36576" tIns="36576" rIns="36576" bIns="36576" anchor="t" anchorCtr="0" upright="1">
              <a:noAutofit/>
            </a:bodyPr>
            <a:lstStyle/>
            <a:p>
              <a:endParaRPr lang="en-GB"/>
            </a:p>
          </p:txBody>
        </p:sp>
        <p:sp>
          <p:nvSpPr>
            <p:cNvPr id="83" name="Oval 82">
              <a:extLst>
                <a:ext uri="{FF2B5EF4-FFF2-40B4-BE49-F238E27FC236}">
                  <a16:creationId xmlns:a16="http://schemas.microsoft.com/office/drawing/2014/main" id="{3B969DD2-4494-8901-0AEF-50AEA8195BEF}"/>
                </a:ext>
              </a:extLst>
            </p:cNvPr>
            <p:cNvSpPr>
              <a:spLocks noChangeArrowheads="1"/>
            </p:cNvSpPr>
            <p:nvPr/>
          </p:nvSpPr>
          <p:spPr bwMode="auto">
            <a:xfrm>
              <a:off x="6400563" y="4871444"/>
              <a:ext cx="199564" cy="242705"/>
            </a:xfrm>
            <a:prstGeom prst="ellipse">
              <a:avLst/>
            </a:prstGeom>
            <a:pattFill prst="zigZag">
              <a:fgClr>
                <a:srgbClr val="FF9999"/>
              </a:fgClr>
              <a:bgClr>
                <a:srgbClr val="FFFFFF"/>
              </a:bgClr>
            </a:patt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dk1">
                        <a:lumMod val="0"/>
                        <a:lumOff val="0"/>
                      </a:schemeClr>
                    </a:outerShdw>
                  </a:effectLst>
                </a14:hiddenEffects>
              </a:ext>
            </a:extLst>
          </p:spPr>
          <p:txBody>
            <a:bodyPr rot="0" vert="horz" wrap="square" lIns="36576" tIns="36576" rIns="36576" bIns="36576" anchor="t" anchorCtr="0" upright="1">
              <a:noAutofit/>
            </a:bodyPr>
            <a:lstStyle/>
            <a:p>
              <a:endParaRPr lang="en-GB"/>
            </a:p>
          </p:txBody>
        </p:sp>
        <p:cxnSp>
          <p:nvCxnSpPr>
            <p:cNvPr id="84" name="AutoShape 9">
              <a:extLst>
                <a:ext uri="{FF2B5EF4-FFF2-40B4-BE49-F238E27FC236}">
                  <a16:creationId xmlns:a16="http://schemas.microsoft.com/office/drawing/2014/main" id="{C55B36A6-07FB-34A4-AABC-A2F9894DB1C9}"/>
                </a:ext>
              </a:extLst>
            </p:cNvPr>
            <p:cNvCxnSpPr>
              <a:cxnSpLocks noChangeShapeType="1"/>
            </p:cNvCxnSpPr>
            <p:nvPr/>
          </p:nvCxnSpPr>
          <p:spPr bwMode="auto">
            <a:xfrm flipV="1">
              <a:off x="6316727" y="5098680"/>
              <a:ext cx="127910" cy="230727"/>
            </a:xfrm>
            <a:prstGeom prst="straightConnector1">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dk1">
                        <a:lumMod val="0"/>
                        <a:lumOff val="0"/>
                      </a:schemeClr>
                    </a:outerShdw>
                  </a:effectLst>
                </a14:hiddenEffects>
              </a:ext>
            </a:extLst>
          </p:spPr>
        </p:cxnSp>
        <p:cxnSp>
          <p:nvCxnSpPr>
            <p:cNvPr id="85" name="AutoShape 10">
              <a:extLst>
                <a:ext uri="{FF2B5EF4-FFF2-40B4-BE49-F238E27FC236}">
                  <a16:creationId xmlns:a16="http://schemas.microsoft.com/office/drawing/2014/main" id="{8B7B3188-7484-1A25-DB11-531E47327AF8}"/>
                </a:ext>
              </a:extLst>
            </p:cNvPr>
            <p:cNvCxnSpPr>
              <a:cxnSpLocks noChangeShapeType="1"/>
            </p:cNvCxnSpPr>
            <p:nvPr/>
          </p:nvCxnSpPr>
          <p:spPr bwMode="auto">
            <a:xfrm>
              <a:off x="5703458" y="5097380"/>
              <a:ext cx="516772" cy="271383"/>
            </a:xfrm>
            <a:prstGeom prst="straightConnector1">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dk1">
                        <a:lumMod val="0"/>
                        <a:lumOff val="0"/>
                      </a:schemeClr>
                    </a:outerShdw>
                  </a:effectLst>
                </a14:hiddenEffects>
              </a:ext>
            </a:extLst>
          </p:spPr>
        </p:cxnSp>
        <p:sp>
          <p:nvSpPr>
            <p:cNvPr id="86" name="Oval 85">
              <a:extLst>
                <a:ext uri="{FF2B5EF4-FFF2-40B4-BE49-F238E27FC236}">
                  <a16:creationId xmlns:a16="http://schemas.microsoft.com/office/drawing/2014/main" id="{D249FEA4-98C0-9C39-0F3D-67C1E06CFDAA}"/>
                </a:ext>
              </a:extLst>
            </p:cNvPr>
            <p:cNvSpPr>
              <a:spLocks noChangeArrowheads="1"/>
            </p:cNvSpPr>
            <p:nvPr/>
          </p:nvSpPr>
          <p:spPr bwMode="auto">
            <a:xfrm>
              <a:off x="6201068" y="5251585"/>
              <a:ext cx="199496" cy="242705"/>
            </a:xfrm>
            <a:prstGeom prst="ellipse">
              <a:avLst/>
            </a:prstGeom>
            <a:pattFill prst="narVert">
              <a:fgClr>
                <a:srgbClr val="FFC000"/>
              </a:fgClr>
              <a:bgClr>
                <a:srgbClr val="FFFFFF"/>
              </a:bgClr>
            </a:patt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dk1">
                        <a:lumMod val="0"/>
                        <a:lumOff val="0"/>
                      </a:schemeClr>
                    </a:outerShdw>
                  </a:effectLst>
                </a14:hiddenEffects>
              </a:ext>
            </a:extLst>
          </p:spPr>
          <p:txBody>
            <a:bodyPr rot="0" vert="horz" wrap="square" lIns="36576" tIns="36576" rIns="36576" bIns="36576" anchor="t" anchorCtr="0" upright="1">
              <a:noAutofit/>
            </a:bodyPr>
            <a:lstStyle/>
            <a:p>
              <a:endParaRPr lang="en-GB"/>
            </a:p>
          </p:txBody>
        </p:sp>
        <p:cxnSp>
          <p:nvCxnSpPr>
            <p:cNvPr id="87" name="AutoShape 12">
              <a:extLst>
                <a:ext uri="{FF2B5EF4-FFF2-40B4-BE49-F238E27FC236}">
                  <a16:creationId xmlns:a16="http://schemas.microsoft.com/office/drawing/2014/main" id="{1DD2E28D-D3F8-9D0C-1967-08C9D1EDD43F}"/>
                </a:ext>
              </a:extLst>
            </p:cNvPr>
            <p:cNvCxnSpPr>
              <a:cxnSpLocks noChangeShapeType="1"/>
            </p:cNvCxnSpPr>
            <p:nvPr/>
          </p:nvCxnSpPr>
          <p:spPr bwMode="auto">
            <a:xfrm flipV="1">
              <a:off x="5761356" y="4678499"/>
              <a:ext cx="348484" cy="293354"/>
            </a:xfrm>
            <a:prstGeom prst="straightConnector1">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dk1">
                        <a:lumMod val="0"/>
                        <a:lumOff val="0"/>
                      </a:schemeClr>
                    </a:outerShdw>
                  </a:effectLst>
                </a14:hiddenEffects>
              </a:ext>
            </a:extLst>
          </p:spPr>
        </p:cxnSp>
        <p:sp>
          <p:nvSpPr>
            <p:cNvPr id="88" name="Oval 87">
              <a:extLst>
                <a:ext uri="{FF2B5EF4-FFF2-40B4-BE49-F238E27FC236}">
                  <a16:creationId xmlns:a16="http://schemas.microsoft.com/office/drawing/2014/main" id="{A164A157-65C4-DFF5-3D41-2064A911031E}"/>
                </a:ext>
              </a:extLst>
            </p:cNvPr>
            <p:cNvSpPr>
              <a:spLocks noChangeArrowheads="1"/>
            </p:cNvSpPr>
            <p:nvPr/>
          </p:nvSpPr>
          <p:spPr bwMode="auto">
            <a:xfrm>
              <a:off x="5588825" y="4902518"/>
              <a:ext cx="199564" cy="242773"/>
            </a:xfrm>
            <a:prstGeom prst="ellipse">
              <a:avLst/>
            </a:prstGeom>
            <a:pattFill prst="ltUpDiag">
              <a:fgClr>
                <a:srgbClr val="92D050"/>
              </a:fgClr>
              <a:bgClr>
                <a:srgbClr val="FFFFFF"/>
              </a:bgClr>
            </a:patt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dk1">
                        <a:lumMod val="0"/>
                        <a:lumOff val="0"/>
                      </a:schemeClr>
                    </a:outerShdw>
                  </a:effectLst>
                </a14:hiddenEffects>
              </a:ext>
            </a:extLst>
          </p:spPr>
          <p:txBody>
            <a:bodyPr rot="0" vert="horz" wrap="square" lIns="36576" tIns="36576" rIns="36576" bIns="36576" anchor="t" anchorCtr="0" upright="1">
              <a:noAutofit/>
            </a:bodyPr>
            <a:lstStyle/>
            <a:p>
              <a:endParaRPr lang="en-GB"/>
            </a:p>
          </p:txBody>
        </p:sp>
        <p:sp>
          <p:nvSpPr>
            <p:cNvPr id="89" name="Oval 88">
              <a:extLst>
                <a:ext uri="{FF2B5EF4-FFF2-40B4-BE49-F238E27FC236}">
                  <a16:creationId xmlns:a16="http://schemas.microsoft.com/office/drawing/2014/main" id="{C033FD8F-58C6-78D9-C6DA-665888A01C27}"/>
                </a:ext>
              </a:extLst>
            </p:cNvPr>
            <p:cNvSpPr>
              <a:spLocks noChangeArrowheads="1"/>
            </p:cNvSpPr>
            <p:nvPr/>
          </p:nvSpPr>
          <p:spPr bwMode="auto">
            <a:xfrm>
              <a:off x="6055843" y="4468716"/>
              <a:ext cx="199564" cy="242705"/>
            </a:xfrm>
            <a:prstGeom prst="ellipse">
              <a:avLst/>
            </a:prstGeom>
            <a:pattFill prst="pct25">
              <a:fgClr>
                <a:schemeClr val="dk1">
                  <a:lumMod val="0"/>
                  <a:lumOff val="0"/>
                </a:schemeClr>
              </a:fgClr>
              <a:bgClr>
                <a:srgbClr val="FFFFFF"/>
              </a:bgClr>
            </a:patt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dk1">
                        <a:lumMod val="0"/>
                        <a:lumOff val="0"/>
                      </a:schemeClr>
                    </a:outerShdw>
                  </a:effectLst>
                </a14:hiddenEffects>
              </a:ext>
            </a:extLst>
          </p:spPr>
          <p:txBody>
            <a:bodyPr rot="0" vert="horz" wrap="square" lIns="36576" tIns="36576" rIns="36576" bIns="36576" anchor="t" anchorCtr="0" upright="1">
              <a:noAutofit/>
            </a:bodyPr>
            <a:lstStyle/>
            <a:p>
              <a:endParaRPr lang="en-GB"/>
            </a:p>
          </p:txBody>
        </p:sp>
      </p:grpSp>
    </p:spTree>
    <p:extLst>
      <p:ext uri="{BB962C8B-B14F-4D97-AF65-F5344CB8AC3E}">
        <p14:creationId xmlns:p14="http://schemas.microsoft.com/office/powerpoint/2010/main" val="3268558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B4F273F3-73D2-2137-CF5C-577C0825DCB0}"/>
              </a:ext>
            </a:extLst>
          </p:cNvPr>
          <p:cNvSpPr>
            <a:spLocks noGrp="1"/>
          </p:cNvSpPr>
          <p:nvPr>
            <p:ph type="title"/>
          </p:nvPr>
        </p:nvSpPr>
        <p:spPr>
          <a:xfrm>
            <a:off x="479394" y="1070800"/>
            <a:ext cx="3939688" cy="5583126"/>
          </a:xfrm>
        </p:spPr>
        <p:txBody>
          <a:bodyPr vert="horz" lIns="91440" tIns="45720" rIns="91440" bIns="45720" rtlCol="0">
            <a:normAutofit/>
          </a:bodyPr>
          <a:lstStyle/>
          <a:p>
            <a:pPr algn="r"/>
            <a:r>
              <a:rPr lang="en-US" kern="1200" dirty="0">
                <a:latin typeface="+mj-lt"/>
                <a:ea typeface="+mj-ea"/>
                <a:cs typeface="+mj-cs"/>
              </a:rPr>
              <a:t>Note</a:t>
            </a:r>
          </a:p>
        </p:txBody>
      </p:sp>
      <p:cxnSp>
        <p:nvCxnSpPr>
          <p:cNvPr id="32" name="Straight Connector 31">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28" name="Content Placeholder 2">
            <a:extLst>
              <a:ext uri="{FF2B5EF4-FFF2-40B4-BE49-F238E27FC236}">
                <a16:creationId xmlns:a16="http://schemas.microsoft.com/office/drawing/2014/main" id="{43DE351F-EF84-14AE-44A4-CE62EE9EF4EE}"/>
              </a:ext>
            </a:extLst>
          </p:cNvPr>
          <p:cNvGraphicFramePr>
            <a:graphicFrameLocks noGrp="1"/>
          </p:cNvGraphicFramePr>
          <p:nvPr>
            <p:ph idx="1"/>
            <p:extLst>
              <p:ext uri="{D42A27DB-BD31-4B8C-83A1-F6EECF244321}">
                <p14:modId xmlns:p14="http://schemas.microsoft.com/office/powerpoint/2010/main" val="31348044"/>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2108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C3E4C23D-B132-4AD9-85F1-A09BC6E3BEC3}"/>
              </a:ext>
            </a:extLst>
          </p:cNvPr>
          <p:cNvSpPr>
            <a:spLocks noGrp="1"/>
          </p:cNvSpPr>
          <p:nvPr>
            <p:ph type="title"/>
          </p:nvPr>
        </p:nvSpPr>
        <p:spPr>
          <a:xfrm>
            <a:off x="1188069" y="381935"/>
            <a:ext cx="4008583" cy="5974414"/>
          </a:xfrm>
        </p:spPr>
        <p:txBody>
          <a:bodyPr anchor="ctr">
            <a:normAutofit/>
          </a:bodyPr>
          <a:lstStyle/>
          <a:p>
            <a:r>
              <a:rPr lang="fi-FI" sz="6200">
                <a:solidFill>
                  <a:srgbClr val="FFFFFF"/>
                </a:solidFill>
              </a:rPr>
              <a:t>Product description</a:t>
            </a:r>
            <a:endParaRPr lang="en-GB" sz="6200">
              <a:solidFill>
                <a:srgbClr val="FFFFFF"/>
              </a:solidFill>
            </a:endParaRPr>
          </a:p>
        </p:txBody>
      </p:sp>
      <p:grpSp>
        <p:nvGrpSpPr>
          <p:cNvPr id="66" name="Group 65">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67"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68"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69"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30E4309D-6D98-4F9A-8B67-A4E2BB80116C}"/>
              </a:ext>
            </a:extLst>
          </p:cNvPr>
          <p:cNvSpPr>
            <a:spLocks noGrp="1"/>
          </p:cNvSpPr>
          <p:nvPr>
            <p:ph idx="1"/>
          </p:nvPr>
        </p:nvSpPr>
        <p:spPr>
          <a:xfrm>
            <a:off x="6297233" y="518400"/>
            <a:ext cx="4771607" cy="5837949"/>
          </a:xfrm>
        </p:spPr>
        <p:txBody>
          <a:bodyPr anchor="ctr">
            <a:normAutofit/>
          </a:bodyPr>
          <a:lstStyle/>
          <a:p>
            <a:pPr marL="0" indent="0">
              <a:buNone/>
            </a:pPr>
            <a:r>
              <a:rPr lang="en-GB" sz="2000" dirty="0">
                <a:solidFill>
                  <a:schemeClr val="tx1">
                    <a:alpha val="80000"/>
                  </a:schemeClr>
                </a:solidFill>
              </a:rPr>
              <a:t>A multi-dimensional AI classification system to help businesses (comparatively) assess and manage key governance indicators (KGIs).</a:t>
            </a:r>
          </a:p>
          <a:p>
            <a:pPr marL="0" indent="0">
              <a:buNone/>
            </a:pPr>
            <a:endParaRPr lang="en-GB" sz="2000" dirty="0">
              <a:solidFill>
                <a:schemeClr val="tx1">
                  <a:alpha val="80000"/>
                </a:schemeClr>
              </a:solidFill>
            </a:endParaRPr>
          </a:p>
          <a:p>
            <a:pPr marL="0" indent="0">
              <a:buNone/>
            </a:pPr>
            <a:r>
              <a:rPr lang="en-GB" sz="1600" i="1" dirty="0">
                <a:solidFill>
                  <a:schemeClr val="tx1">
                    <a:alpha val="80000"/>
                  </a:schemeClr>
                </a:solidFill>
              </a:rPr>
              <a:t>*This document builds on polyzentrik’s business plan. The data needed for this product comes from usage of polyzentrik’s toolkits, as described in polyzentrik’s business plan.</a:t>
            </a:r>
          </a:p>
        </p:txBody>
      </p:sp>
      <p:cxnSp>
        <p:nvCxnSpPr>
          <p:cNvPr id="71" name="Straight Connector 70">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6777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0" name="Rectangle 59">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E4C23D-B132-4AD9-85F1-A09BC6E3BEC3}"/>
              </a:ext>
            </a:extLst>
          </p:cNvPr>
          <p:cNvSpPr>
            <a:spLocks noGrp="1"/>
          </p:cNvSpPr>
          <p:nvPr>
            <p:ph type="title"/>
          </p:nvPr>
        </p:nvSpPr>
        <p:spPr>
          <a:xfrm>
            <a:off x="803775" y="1106007"/>
            <a:ext cx="10550025" cy="1182927"/>
          </a:xfrm>
        </p:spPr>
        <p:txBody>
          <a:bodyPr anchor="b">
            <a:normAutofit/>
          </a:bodyPr>
          <a:lstStyle/>
          <a:p>
            <a:r>
              <a:rPr lang="fi-FI" sz="5600" dirty="0"/>
              <a:t>Business opportunity</a:t>
            </a:r>
            <a:endParaRPr lang="en-GB" sz="5600" dirty="0"/>
          </a:p>
        </p:txBody>
      </p:sp>
      <p:cxnSp>
        <p:nvCxnSpPr>
          <p:cNvPr id="62" name="Straight Connector 61">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8"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0E4309D-6D98-4F9A-8B67-A4E2BB80116C}"/>
              </a:ext>
            </a:extLst>
          </p:cNvPr>
          <p:cNvSpPr>
            <a:spLocks noGrp="1"/>
          </p:cNvSpPr>
          <p:nvPr>
            <p:ph idx="1"/>
          </p:nvPr>
        </p:nvSpPr>
        <p:spPr>
          <a:xfrm>
            <a:off x="803775" y="2598947"/>
            <a:ext cx="10550025" cy="3677348"/>
          </a:xfrm>
        </p:spPr>
        <p:txBody>
          <a:bodyPr anchor="t">
            <a:normAutofit/>
          </a:bodyPr>
          <a:lstStyle/>
          <a:p>
            <a:pPr marL="0" indent="0">
              <a:buNone/>
            </a:pPr>
            <a:r>
              <a:rPr lang="en-GB" sz="2000" dirty="0">
                <a:solidFill>
                  <a:schemeClr val="tx1">
                    <a:alpha val="80000"/>
                  </a:schemeClr>
                </a:solidFill>
              </a:rPr>
              <a:t>There is a need for better ways to </a:t>
            </a:r>
            <a:r>
              <a:rPr lang="en-GB" sz="2000" b="1" dirty="0">
                <a:solidFill>
                  <a:schemeClr val="tx1">
                    <a:alpha val="80000"/>
                  </a:schemeClr>
                </a:solidFill>
              </a:rPr>
              <a:t>understand and communicate the extent to which different businesses</a:t>
            </a:r>
            <a:r>
              <a:rPr lang="en-GB" sz="2000" dirty="0">
                <a:solidFill>
                  <a:schemeClr val="tx1">
                    <a:alpha val="80000"/>
                  </a:schemeClr>
                </a:solidFill>
              </a:rPr>
              <a:t> (and types thereof) </a:t>
            </a:r>
            <a:r>
              <a:rPr lang="en-GB" sz="2000" b="1" dirty="0">
                <a:solidFill>
                  <a:schemeClr val="tx1">
                    <a:alpha val="80000"/>
                  </a:schemeClr>
                </a:solidFill>
              </a:rPr>
              <a:t>meet varied policy/governance targets</a:t>
            </a:r>
            <a:r>
              <a:rPr lang="en-GB" sz="2000" dirty="0">
                <a:solidFill>
                  <a:schemeClr val="tx1">
                    <a:alpha val="80000"/>
                  </a:schemeClr>
                </a:solidFill>
              </a:rPr>
              <a:t>. </a:t>
            </a:r>
          </a:p>
          <a:p>
            <a:r>
              <a:rPr lang="en-GB" sz="2000" dirty="0">
                <a:solidFill>
                  <a:schemeClr val="tx1">
                    <a:alpha val="80000"/>
                  </a:schemeClr>
                </a:solidFill>
              </a:rPr>
              <a:t>Current solutions can overfocus on aspects of business at the expense of others.</a:t>
            </a:r>
          </a:p>
          <a:p>
            <a:r>
              <a:rPr lang="en-GB" sz="2000" dirty="0">
                <a:solidFill>
                  <a:schemeClr val="tx1">
                    <a:alpha val="80000"/>
                  </a:schemeClr>
                </a:solidFill>
              </a:rPr>
              <a:t>Current solutions are slow. </a:t>
            </a:r>
          </a:p>
          <a:p>
            <a:pPr marL="457200" lvl="1" indent="0">
              <a:spcBef>
                <a:spcPts val="1800"/>
              </a:spcBef>
              <a:spcAft>
                <a:spcPts val="600"/>
              </a:spcAft>
              <a:buNone/>
            </a:pPr>
            <a:r>
              <a:rPr lang="en-GB" sz="2000" b="1" i="1" dirty="0">
                <a:solidFill>
                  <a:schemeClr val="tx1">
                    <a:alpha val="80000"/>
                  </a:schemeClr>
                </a:solidFill>
              </a:rPr>
              <a:t>&amp; critically</a:t>
            </a:r>
          </a:p>
          <a:p>
            <a:r>
              <a:rPr lang="en-GB" sz="2000" dirty="0">
                <a:solidFill>
                  <a:schemeClr val="tx1">
                    <a:alpha val="80000"/>
                  </a:schemeClr>
                </a:solidFill>
              </a:rPr>
              <a:t>Current solutions lack scalability, that is, they struggle when it comes to zooming in and out and comparing performance across different dimensions.</a:t>
            </a:r>
          </a:p>
        </p:txBody>
      </p:sp>
      <p:grpSp>
        <p:nvGrpSpPr>
          <p:cNvPr id="64" name="Group 63">
            <a:extLst>
              <a:ext uri="{FF2B5EF4-FFF2-40B4-BE49-F238E27FC236}">
                <a16:creationId xmlns:a16="http://schemas.microsoft.com/office/drawing/2014/main" id="{78350D8D-73D6-4132-89B5-DD52F3962A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88224" y="2325422"/>
            <a:ext cx="465458" cy="872153"/>
            <a:chOff x="11388224" y="2325422"/>
            <a:chExt cx="465458" cy="872153"/>
          </a:xfrm>
        </p:grpSpPr>
        <p:sp>
          <p:nvSpPr>
            <p:cNvPr id="65"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3764" y="232542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6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762544" y="255471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67"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88224" y="306986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grpSp>
    </p:spTree>
    <p:extLst>
      <p:ext uri="{BB962C8B-B14F-4D97-AF65-F5344CB8AC3E}">
        <p14:creationId xmlns:p14="http://schemas.microsoft.com/office/powerpoint/2010/main" val="1544037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E4C23D-B132-4AD9-85F1-A09BC6E3BEC3}"/>
              </a:ext>
            </a:extLst>
          </p:cNvPr>
          <p:cNvSpPr>
            <a:spLocks noGrp="1"/>
          </p:cNvSpPr>
          <p:nvPr>
            <p:ph type="title"/>
          </p:nvPr>
        </p:nvSpPr>
        <p:spPr>
          <a:xfrm>
            <a:off x="803775" y="1106007"/>
            <a:ext cx="10550025" cy="1182927"/>
          </a:xfrm>
        </p:spPr>
        <p:txBody>
          <a:bodyPr anchor="b">
            <a:normAutofit/>
          </a:bodyPr>
          <a:lstStyle/>
          <a:p>
            <a:r>
              <a:rPr lang="fi-FI" sz="5600" dirty="0"/>
              <a:t>Why AI?</a:t>
            </a:r>
            <a:endParaRPr lang="en-GB" sz="5600" dirty="0"/>
          </a:p>
        </p:txBody>
      </p:sp>
      <p:cxnSp>
        <p:nvCxnSpPr>
          <p:cNvPr id="24" name="Straight Connector 23">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8"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0E4309D-6D98-4F9A-8B67-A4E2BB80116C}"/>
              </a:ext>
            </a:extLst>
          </p:cNvPr>
          <p:cNvSpPr>
            <a:spLocks noGrp="1"/>
          </p:cNvSpPr>
          <p:nvPr>
            <p:ph idx="1"/>
          </p:nvPr>
        </p:nvSpPr>
        <p:spPr>
          <a:xfrm>
            <a:off x="803775" y="2598947"/>
            <a:ext cx="10550025" cy="3677348"/>
          </a:xfrm>
        </p:spPr>
        <p:txBody>
          <a:bodyPr numCol="1" anchor="t">
            <a:normAutofit/>
          </a:bodyPr>
          <a:lstStyle/>
          <a:p>
            <a:r>
              <a:rPr lang="en-GB" sz="2000" dirty="0">
                <a:solidFill>
                  <a:schemeClr val="tx1">
                    <a:alpha val="80000"/>
                  </a:schemeClr>
                </a:solidFill>
              </a:rPr>
              <a:t>There is a problem (see previous slide).</a:t>
            </a:r>
          </a:p>
          <a:p>
            <a:r>
              <a:rPr lang="en-GB" sz="2000" dirty="0">
                <a:solidFill>
                  <a:schemeClr val="tx1">
                    <a:alpha val="80000"/>
                  </a:schemeClr>
                </a:solidFill>
              </a:rPr>
              <a:t>There is an audience.</a:t>
            </a:r>
          </a:p>
          <a:p>
            <a:pPr lvl="1"/>
            <a:r>
              <a:rPr lang="en-GB" sz="1600" dirty="0">
                <a:solidFill>
                  <a:schemeClr val="tx1">
                    <a:alpha val="80000"/>
                  </a:schemeClr>
                </a:solidFill>
              </a:rPr>
              <a:t>(Understand &amp; communicate) Many businesses want better policy/governance guidance.</a:t>
            </a:r>
          </a:p>
          <a:p>
            <a:pPr lvl="1"/>
            <a:r>
              <a:rPr lang="en-GB" sz="1600" dirty="0">
                <a:solidFill>
                  <a:schemeClr val="tx1">
                    <a:alpha val="80000"/>
                  </a:schemeClr>
                </a:solidFill>
              </a:rPr>
              <a:t>(Communicate) Many financial actors want better policy/governance data about those in their portfolio.</a:t>
            </a:r>
          </a:p>
          <a:p>
            <a:pPr lvl="1"/>
            <a:r>
              <a:rPr lang="en-GB" sz="1600" dirty="0">
                <a:solidFill>
                  <a:schemeClr val="tx1">
                    <a:alpha val="80000"/>
                  </a:schemeClr>
                </a:solidFill>
              </a:rPr>
              <a:t>(Communicate) Many regulators want better policy/governance data about actors in their field.</a:t>
            </a:r>
          </a:p>
          <a:p>
            <a:r>
              <a:rPr lang="en-GB" sz="2000" dirty="0">
                <a:solidFill>
                  <a:schemeClr val="tx1">
                    <a:alpha val="80000"/>
                  </a:schemeClr>
                </a:solidFill>
              </a:rPr>
              <a:t>An AI classification system can help solve the problem.</a:t>
            </a:r>
          </a:p>
          <a:p>
            <a:pPr lvl="1"/>
            <a:r>
              <a:rPr lang="en-GB" sz="1600" dirty="0">
                <a:solidFill>
                  <a:schemeClr val="tx1">
                    <a:alpha val="80000"/>
                  </a:schemeClr>
                </a:solidFill>
              </a:rPr>
              <a:t>The key is to </a:t>
            </a:r>
            <a:r>
              <a:rPr lang="en-GB" sz="1600" b="1" dirty="0">
                <a:solidFill>
                  <a:schemeClr val="tx1">
                    <a:alpha val="80000"/>
                  </a:schemeClr>
                </a:solidFill>
              </a:rPr>
              <a:t>compare what a business does with (a) what others do and (b) what is needed</a:t>
            </a:r>
            <a:r>
              <a:rPr lang="en-GB" sz="1600" dirty="0">
                <a:solidFill>
                  <a:schemeClr val="tx1">
                    <a:alpha val="80000"/>
                  </a:schemeClr>
                </a:solidFill>
              </a:rPr>
              <a:t>.</a:t>
            </a:r>
          </a:p>
          <a:p>
            <a:pPr lvl="2"/>
            <a:r>
              <a:rPr lang="en-GB" sz="1050" dirty="0">
                <a:solidFill>
                  <a:schemeClr val="tx1">
                    <a:alpha val="80000"/>
                  </a:schemeClr>
                </a:solidFill>
              </a:rPr>
              <a:t>Implies a need to classify businesses’ performance using many targets (internal goals, industry benchmarks, regulatory requirements, societal expectations, etc., etc.) and compare them across many dimensions (sector, industry, region, size, ownership types, etc., etc.). </a:t>
            </a:r>
          </a:p>
          <a:p>
            <a:pPr lvl="1"/>
            <a:r>
              <a:rPr lang="en-GB" sz="1600" dirty="0">
                <a:solidFill>
                  <a:schemeClr val="tx1">
                    <a:alpha val="80000"/>
                  </a:schemeClr>
                </a:solidFill>
              </a:rPr>
              <a:t>Businesses will require actionable feedback.</a:t>
            </a:r>
          </a:p>
          <a:p>
            <a:pPr lvl="2"/>
            <a:r>
              <a:rPr lang="en-GB" sz="1050" dirty="0">
                <a:solidFill>
                  <a:schemeClr val="tx1">
                    <a:alpha val="80000"/>
                  </a:schemeClr>
                </a:solidFill>
              </a:rPr>
              <a:t>Where do I stand? Why? How can we improve?</a:t>
            </a:r>
          </a:p>
          <a:p>
            <a:pPr lvl="1"/>
            <a:r>
              <a:rPr lang="en-GB" sz="1600" b="1" i="1" dirty="0">
                <a:solidFill>
                  <a:schemeClr val="tx1">
                    <a:alpha val="80000"/>
                  </a:schemeClr>
                </a:solidFill>
              </a:rPr>
              <a:t>Upon business consent,</a:t>
            </a:r>
            <a:r>
              <a:rPr lang="en-GB" sz="1600" dirty="0">
                <a:solidFill>
                  <a:schemeClr val="tx1">
                    <a:alpha val="80000"/>
                  </a:schemeClr>
                </a:solidFill>
              </a:rPr>
              <a:t> others may want access to the data used for classification, an explanation, and/or ranks.</a:t>
            </a:r>
          </a:p>
          <a:p>
            <a:pPr lvl="2"/>
            <a:r>
              <a:rPr lang="en-GB" sz="1050" dirty="0">
                <a:solidFill>
                  <a:schemeClr val="tx1">
                    <a:alpha val="80000"/>
                  </a:schemeClr>
                </a:solidFill>
              </a:rPr>
              <a:t>Is this business doing well against others in this sector, industry, region, size, type, etc., etc.? Why is this business in this category? How can this business do better?</a:t>
            </a:r>
          </a:p>
        </p:txBody>
      </p:sp>
      <p:grpSp>
        <p:nvGrpSpPr>
          <p:cNvPr id="26" name="Group 25">
            <a:extLst>
              <a:ext uri="{FF2B5EF4-FFF2-40B4-BE49-F238E27FC236}">
                <a16:creationId xmlns:a16="http://schemas.microsoft.com/office/drawing/2014/main" id="{78350D8D-73D6-4132-89B5-DD52F3962A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88224" y="2325422"/>
            <a:ext cx="465458" cy="872153"/>
            <a:chOff x="11388224" y="2325422"/>
            <a:chExt cx="465458" cy="872153"/>
          </a:xfrm>
        </p:grpSpPr>
        <p:sp>
          <p:nvSpPr>
            <p:cNvPr id="27"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3764" y="232542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28"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762544" y="255471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29"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88224" y="306986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grpSp>
    </p:spTree>
    <p:extLst>
      <p:ext uri="{BB962C8B-B14F-4D97-AF65-F5344CB8AC3E}">
        <p14:creationId xmlns:p14="http://schemas.microsoft.com/office/powerpoint/2010/main" val="26732710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75C8F7-EC7C-4501-9B44-328EFCC09996}"/>
              </a:ext>
            </a:extLst>
          </p:cNvPr>
          <p:cNvSpPr>
            <a:spLocks noGrp="1"/>
          </p:cNvSpPr>
          <p:nvPr>
            <p:ph type="title"/>
          </p:nvPr>
        </p:nvSpPr>
        <p:spPr>
          <a:xfrm>
            <a:off x="803775" y="1106007"/>
            <a:ext cx="10550025" cy="1182927"/>
          </a:xfrm>
        </p:spPr>
        <p:txBody>
          <a:bodyPr anchor="b">
            <a:normAutofit/>
          </a:bodyPr>
          <a:lstStyle/>
          <a:p>
            <a:r>
              <a:rPr lang="fi-FI" sz="5600" dirty="0"/>
              <a:t>What is product success?</a:t>
            </a:r>
            <a:endParaRPr lang="en-GB" sz="5600" dirty="0"/>
          </a:p>
        </p:txBody>
      </p:sp>
      <p:cxnSp>
        <p:nvCxnSpPr>
          <p:cNvPr id="11" name="Straight Connector 10">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8"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F016F1C7-6720-498A-9B82-9E92BC7C628C}"/>
              </a:ext>
            </a:extLst>
          </p:cNvPr>
          <p:cNvSpPr>
            <a:spLocks noGrp="1"/>
          </p:cNvSpPr>
          <p:nvPr>
            <p:ph idx="1"/>
          </p:nvPr>
        </p:nvSpPr>
        <p:spPr>
          <a:xfrm>
            <a:off x="803775" y="2598947"/>
            <a:ext cx="10550025" cy="3677348"/>
          </a:xfrm>
        </p:spPr>
        <p:txBody>
          <a:bodyPr anchor="t">
            <a:normAutofit fontScale="70000" lnSpcReduction="20000"/>
          </a:bodyPr>
          <a:lstStyle/>
          <a:p>
            <a:r>
              <a:rPr lang="en-GB" b="1" dirty="0"/>
              <a:t>Expected business impact (for businesses)</a:t>
            </a:r>
          </a:p>
          <a:p>
            <a:pPr lvl="1"/>
            <a:r>
              <a:rPr lang="en-GB" dirty="0"/>
              <a:t>Lowering </a:t>
            </a:r>
            <a:r>
              <a:rPr lang="en-GB" u="sng" dirty="0"/>
              <a:t>costs</a:t>
            </a:r>
            <a:r>
              <a:rPr lang="en-GB" dirty="0"/>
              <a:t> of meeting policy/governance targets.</a:t>
            </a:r>
          </a:p>
          <a:p>
            <a:pPr lvl="1"/>
            <a:r>
              <a:rPr lang="en-GB" dirty="0"/>
              <a:t>Lowering </a:t>
            </a:r>
            <a:r>
              <a:rPr lang="en-GB" u="sng" dirty="0"/>
              <a:t>costs</a:t>
            </a:r>
            <a:r>
              <a:rPr lang="en-GB" dirty="0"/>
              <a:t> of demonstrating interest in policy/governance objectives.</a:t>
            </a:r>
          </a:p>
          <a:p>
            <a:pPr lvl="1"/>
            <a:r>
              <a:rPr lang="en-GB" dirty="0"/>
              <a:t>Lowering </a:t>
            </a:r>
            <a:r>
              <a:rPr lang="en-GB" u="sng" dirty="0"/>
              <a:t>costs</a:t>
            </a:r>
            <a:r>
              <a:rPr lang="en-GB" dirty="0"/>
              <a:t> of sharing policy/governance data with business partners and/or authorities.</a:t>
            </a:r>
          </a:p>
          <a:p>
            <a:pPr lvl="1"/>
            <a:r>
              <a:rPr lang="en-GB" dirty="0"/>
              <a:t>Offering actionable feedback by which users can </a:t>
            </a:r>
            <a:r>
              <a:rPr lang="en-GB" u="sng" dirty="0"/>
              <a:t>continuously improve</a:t>
            </a:r>
            <a:r>
              <a:rPr lang="en-GB" dirty="0"/>
              <a:t> how they approach the policy/governance dimension of their activities. </a:t>
            </a:r>
          </a:p>
          <a:p>
            <a:pPr lvl="1"/>
            <a:endParaRPr lang="en-GB" dirty="0"/>
          </a:p>
          <a:p>
            <a:r>
              <a:rPr lang="en-GB" b="1" dirty="0"/>
              <a:t>Expected business impact (for polyzentrik)</a:t>
            </a:r>
          </a:p>
          <a:p>
            <a:pPr lvl="1"/>
            <a:r>
              <a:rPr lang="en-GB" dirty="0"/>
              <a:t>Initially, since this would be an entirely new system, the goal is simply to </a:t>
            </a:r>
            <a:r>
              <a:rPr lang="en-GB" u="sng" dirty="0"/>
              <a:t>win users</a:t>
            </a:r>
            <a:r>
              <a:rPr lang="en-GB" dirty="0"/>
              <a:t>. </a:t>
            </a:r>
          </a:p>
          <a:p>
            <a:pPr lvl="1"/>
            <a:endParaRPr lang="en-GB" dirty="0"/>
          </a:p>
          <a:p>
            <a:r>
              <a:rPr lang="en-GB" b="1" dirty="0"/>
              <a:t>Therefore, metrics for AI system</a:t>
            </a:r>
          </a:p>
          <a:p>
            <a:pPr lvl="1"/>
            <a:r>
              <a:rPr lang="en-GB" dirty="0"/>
              <a:t>Outcome metrics. Number of new customers.</a:t>
            </a:r>
          </a:p>
          <a:p>
            <a:pPr lvl="1"/>
            <a:r>
              <a:rPr lang="en-GB" dirty="0"/>
              <a:t>Output metrics. F1 score (the harmonic mean of precision and recall, to balance false positives and false negatives). </a:t>
            </a:r>
          </a:p>
          <a:p>
            <a:endParaRPr lang="fi-FI" sz="1600" dirty="0">
              <a:solidFill>
                <a:schemeClr val="tx1">
                  <a:alpha val="80000"/>
                </a:schemeClr>
              </a:solidFill>
            </a:endParaRPr>
          </a:p>
        </p:txBody>
      </p:sp>
      <p:grpSp>
        <p:nvGrpSpPr>
          <p:cNvPr id="13" name="Group 12">
            <a:extLst>
              <a:ext uri="{FF2B5EF4-FFF2-40B4-BE49-F238E27FC236}">
                <a16:creationId xmlns:a16="http://schemas.microsoft.com/office/drawing/2014/main" id="{78350D8D-73D6-4132-89B5-DD52F3962A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88224" y="2325422"/>
            <a:ext cx="465458" cy="872153"/>
            <a:chOff x="11388224" y="2325422"/>
            <a:chExt cx="465458" cy="872153"/>
          </a:xfrm>
        </p:grpSpPr>
        <p:sp>
          <p:nvSpPr>
            <p:cNvPr id="14"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3764" y="232542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15"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762544" y="255471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16"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88224" y="306986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grpSp>
    </p:spTree>
    <p:extLst>
      <p:ext uri="{BB962C8B-B14F-4D97-AF65-F5344CB8AC3E}">
        <p14:creationId xmlns:p14="http://schemas.microsoft.com/office/powerpoint/2010/main" val="819646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C3E4C23D-B132-4AD9-85F1-A09BC6E3BEC3}"/>
              </a:ext>
            </a:extLst>
          </p:cNvPr>
          <p:cNvSpPr>
            <a:spLocks noGrp="1"/>
          </p:cNvSpPr>
          <p:nvPr>
            <p:ph type="title"/>
          </p:nvPr>
        </p:nvSpPr>
        <p:spPr>
          <a:xfrm>
            <a:off x="1188069" y="381935"/>
            <a:ext cx="4008583" cy="5974414"/>
          </a:xfrm>
        </p:spPr>
        <p:txBody>
          <a:bodyPr anchor="ctr">
            <a:normAutofit/>
          </a:bodyPr>
          <a:lstStyle/>
          <a:p>
            <a:r>
              <a:rPr lang="fi-FI" sz="5000">
                <a:solidFill>
                  <a:srgbClr val="FFFFFF"/>
                </a:solidFill>
              </a:rPr>
              <a:t>Approach to development</a:t>
            </a:r>
            <a:endParaRPr lang="en-GB" sz="5000">
              <a:solidFill>
                <a:srgbClr val="FFFFFF"/>
              </a:solidFill>
            </a:endParaRPr>
          </a:p>
        </p:txBody>
      </p:sp>
      <p:grpSp>
        <p:nvGrpSpPr>
          <p:cNvPr id="26" name="Group 25">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27"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28"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29"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30E4309D-6D98-4F9A-8B67-A4E2BB80116C}"/>
              </a:ext>
            </a:extLst>
          </p:cNvPr>
          <p:cNvSpPr>
            <a:spLocks noGrp="1"/>
          </p:cNvSpPr>
          <p:nvPr>
            <p:ph idx="1"/>
          </p:nvPr>
        </p:nvSpPr>
        <p:spPr>
          <a:xfrm>
            <a:off x="6297233" y="518400"/>
            <a:ext cx="4771607" cy="5837949"/>
          </a:xfrm>
        </p:spPr>
        <p:txBody>
          <a:bodyPr anchor="ctr">
            <a:normAutofit/>
          </a:bodyPr>
          <a:lstStyle/>
          <a:p>
            <a:pPr marL="0" indent="0">
              <a:buNone/>
            </a:pPr>
            <a:r>
              <a:rPr lang="en-GB" sz="2000" dirty="0">
                <a:solidFill>
                  <a:schemeClr val="tx1">
                    <a:alpha val="80000"/>
                  </a:schemeClr>
                </a:solidFill>
              </a:rPr>
              <a:t>AGILE approach covering more CRISP-DM steps in each iteration.</a:t>
            </a:r>
          </a:p>
        </p:txBody>
      </p:sp>
      <p:cxnSp>
        <p:nvCxnSpPr>
          <p:cNvPr id="31" name="Straight Connector 30">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5543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81F9C6-25FF-7D4D-3436-C45BE66DA2D7}"/>
              </a:ext>
            </a:extLst>
          </p:cNvPr>
          <p:cNvSpPr>
            <a:spLocks noGrp="1"/>
          </p:cNvSpPr>
          <p:nvPr>
            <p:ph type="title"/>
          </p:nvPr>
        </p:nvSpPr>
        <p:spPr>
          <a:xfrm>
            <a:off x="803775" y="1106007"/>
            <a:ext cx="10550025" cy="1182927"/>
          </a:xfrm>
        </p:spPr>
        <p:txBody>
          <a:bodyPr anchor="b">
            <a:normAutofit/>
          </a:bodyPr>
          <a:lstStyle/>
          <a:p>
            <a:r>
              <a:rPr lang="fi-FI" sz="5600" dirty="0"/>
              <a:t>Validation</a:t>
            </a:r>
            <a:endParaRPr lang="en-GB" sz="5600" dirty="0"/>
          </a:p>
        </p:txBody>
      </p:sp>
      <p:cxnSp>
        <p:nvCxnSpPr>
          <p:cNvPr id="10" name="Straight Connector 9">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8"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121C9CC-0F4A-7489-289D-2953E6478BE6}"/>
              </a:ext>
            </a:extLst>
          </p:cNvPr>
          <p:cNvSpPr>
            <a:spLocks noGrp="1"/>
          </p:cNvSpPr>
          <p:nvPr>
            <p:ph idx="1"/>
          </p:nvPr>
        </p:nvSpPr>
        <p:spPr>
          <a:xfrm>
            <a:off x="803775" y="2598947"/>
            <a:ext cx="10550025" cy="3677348"/>
          </a:xfrm>
        </p:spPr>
        <p:txBody>
          <a:bodyPr anchor="t">
            <a:normAutofit/>
          </a:bodyPr>
          <a:lstStyle/>
          <a:p>
            <a:pPr marL="514350" indent="-514350">
              <a:buFont typeface="+mj-lt"/>
              <a:buAutoNum type="arabicPeriod"/>
            </a:pPr>
            <a:r>
              <a:rPr lang="fi-FI" sz="1700">
                <a:solidFill>
                  <a:schemeClr val="tx1">
                    <a:alpha val="80000"/>
                  </a:schemeClr>
                </a:solidFill>
              </a:rPr>
              <a:t>Confirm the problem.</a:t>
            </a:r>
          </a:p>
          <a:p>
            <a:pPr lvl="1"/>
            <a:r>
              <a:rPr lang="fi-FI" sz="1700">
                <a:solidFill>
                  <a:schemeClr val="tx1">
                    <a:alpha val="80000"/>
                  </a:schemeClr>
                </a:solidFill>
              </a:rPr>
              <a:t>Interview potential expert and potential business users.</a:t>
            </a:r>
          </a:p>
          <a:p>
            <a:pPr marL="514350" indent="-514350">
              <a:buFont typeface="+mj-lt"/>
              <a:buAutoNum type="arabicPeriod"/>
            </a:pPr>
            <a:r>
              <a:rPr lang="fi-FI" sz="1700">
                <a:solidFill>
                  <a:schemeClr val="tx1">
                    <a:alpha val="80000"/>
                  </a:schemeClr>
                </a:solidFill>
              </a:rPr>
              <a:t>Understand how problem is currently solved.</a:t>
            </a:r>
          </a:p>
          <a:p>
            <a:pPr lvl="1"/>
            <a:r>
              <a:rPr lang="fi-FI" sz="1700">
                <a:solidFill>
                  <a:schemeClr val="tx1">
                    <a:alpha val="80000"/>
                  </a:schemeClr>
                </a:solidFill>
              </a:rPr>
              <a:t>Test a sample of top sector-specific data management and sharing tools in highly competitive spaces such as, for instance, ESG.</a:t>
            </a:r>
          </a:p>
          <a:p>
            <a:pPr marL="514350" indent="-514350">
              <a:buFont typeface="+mj-lt"/>
              <a:buAutoNum type="arabicPeriod"/>
            </a:pPr>
            <a:r>
              <a:rPr lang="fi-FI" sz="1700">
                <a:solidFill>
                  <a:schemeClr val="tx1">
                    <a:alpha val="80000"/>
                  </a:schemeClr>
                </a:solidFill>
              </a:rPr>
              <a:t>Converge on a potential solution. </a:t>
            </a:r>
          </a:p>
          <a:p>
            <a:pPr lvl="1"/>
            <a:r>
              <a:rPr lang="fi-FI" sz="1700">
                <a:solidFill>
                  <a:schemeClr val="tx1">
                    <a:alpha val="80000"/>
                  </a:schemeClr>
                </a:solidFill>
              </a:rPr>
              <a:t>Determine what cost/performance ration would </a:t>
            </a:r>
            <a:r>
              <a:rPr lang="en-GB" sz="1700">
                <a:solidFill>
                  <a:schemeClr val="tx1">
                    <a:alpha val="80000"/>
                  </a:schemeClr>
                </a:solidFill>
              </a:rPr>
              <a:t>convince potential users.</a:t>
            </a:r>
          </a:p>
          <a:p>
            <a:pPr marL="514350" indent="-514350">
              <a:buFont typeface="+mj-lt"/>
              <a:buAutoNum type="arabicPeriod"/>
            </a:pPr>
            <a:r>
              <a:rPr lang="en-GB" sz="1700">
                <a:solidFill>
                  <a:schemeClr val="tx1">
                    <a:alpha val="80000"/>
                  </a:schemeClr>
                </a:solidFill>
              </a:rPr>
              <a:t>Technical feasibility screening. </a:t>
            </a:r>
          </a:p>
          <a:p>
            <a:pPr lvl="1"/>
            <a:r>
              <a:rPr lang="en-GB" sz="1700">
                <a:solidFill>
                  <a:schemeClr val="tx1">
                    <a:alpha val="80000"/>
                  </a:schemeClr>
                </a:solidFill>
              </a:rPr>
              <a:t>Assemble a team of experts to gauge if performance/cost ratio is attainable.</a:t>
            </a:r>
          </a:p>
          <a:p>
            <a:pPr lvl="1"/>
            <a:r>
              <a:rPr lang="en-GB" sz="1700">
                <a:solidFill>
                  <a:schemeClr val="tx1">
                    <a:alpha val="80000"/>
                  </a:schemeClr>
                </a:solidFill>
              </a:rPr>
              <a:t>If feasible, proceed to product.</a:t>
            </a:r>
          </a:p>
          <a:p>
            <a:pPr lvl="1"/>
            <a:r>
              <a:rPr lang="en-GB" sz="1700">
                <a:solidFill>
                  <a:schemeClr val="tx1">
                    <a:alpha val="80000"/>
                  </a:schemeClr>
                </a:solidFill>
              </a:rPr>
              <a:t>If not feasible, back to step 1, repeat until a feasible solution emerges.</a:t>
            </a:r>
          </a:p>
          <a:p>
            <a:endParaRPr lang="en-GB" sz="1700">
              <a:solidFill>
                <a:schemeClr val="tx1">
                  <a:alpha val="80000"/>
                </a:schemeClr>
              </a:solidFill>
            </a:endParaRPr>
          </a:p>
        </p:txBody>
      </p:sp>
      <p:grpSp>
        <p:nvGrpSpPr>
          <p:cNvPr id="12" name="Group 11">
            <a:extLst>
              <a:ext uri="{FF2B5EF4-FFF2-40B4-BE49-F238E27FC236}">
                <a16:creationId xmlns:a16="http://schemas.microsoft.com/office/drawing/2014/main" id="{78350D8D-73D6-4132-89B5-DD52F3962A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88224" y="2325422"/>
            <a:ext cx="465458" cy="872153"/>
            <a:chOff x="11388224" y="2325422"/>
            <a:chExt cx="465458" cy="872153"/>
          </a:xfrm>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3764" y="232542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762544" y="255471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88224" y="306986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grpSp>
    </p:spTree>
    <p:extLst>
      <p:ext uri="{BB962C8B-B14F-4D97-AF65-F5344CB8AC3E}">
        <p14:creationId xmlns:p14="http://schemas.microsoft.com/office/powerpoint/2010/main" val="3620909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20EDA4-36FF-94C9-0BE8-411E41A4F9CD}"/>
              </a:ext>
            </a:extLst>
          </p:cNvPr>
          <p:cNvSpPr>
            <a:spLocks noGrp="1"/>
          </p:cNvSpPr>
          <p:nvPr>
            <p:ph type="title"/>
          </p:nvPr>
        </p:nvSpPr>
        <p:spPr>
          <a:xfrm>
            <a:off x="803775" y="1106007"/>
            <a:ext cx="10550025" cy="1182927"/>
          </a:xfrm>
        </p:spPr>
        <p:txBody>
          <a:bodyPr anchor="b">
            <a:normAutofit/>
          </a:bodyPr>
          <a:lstStyle/>
          <a:p>
            <a:r>
              <a:rPr lang="fi-FI" sz="5600" dirty="0"/>
              <a:t>Development</a:t>
            </a:r>
            <a:endParaRPr lang="en-GB" sz="5600" dirty="0"/>
          </a:p>
        </p:txBody>
      </p:sp>
      <p:cxnSp>
        <p:nvCxnSpPr>
          <p:cNvPr id="47" name="Straight Connector 46">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8"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11" name="Content Placeholder 10">
            <a:extLst>
              <a:ext uri="{FF2B5EF4-FFF2-40B4-BE49-F238E27FC236}">
                <a16:creationId xmlns:a16="http://schemas.microsoft.com/office/drawing/2014/main" id="{22E68C4B-8ECA-8000-5690-2684813C4D1D}"/>
              </a:ext>
            </a:extLst>
          </p:cNvPr>
          <p:cNvGraphicFramePr>
            <a:graphicFrameLocks noGrp="1"/>
          </p:cNvGraphicFramePr>
          <p:nvPr>
            <p:ph idx="1"/>
            <p:extLst>
              <p:ext uri="{D42A27DB-BD31-4B8C-83A1-F6EECF244321}">
                <p14:modId xmlns:p14="http://schemas.microsoft.com/office/powerpoint/2010/main" val="3236058541"/>
              </p:ext>
            </p:extLst>
          </p:nvPr>
        </p:nvGraphicFramePr>
        <p:xfrm>
          <a:off x="802800" y="2834358"/>
          <a:ext cx="10551602" cy="3208887"/>
        </p:xfrm>
        <a:graphic>
          <a:graphicData uri="http://schemas.openxmlformats.org/drawingml/2006/table">
            <a:tbl>
              <a:tblPr firstRow="1" bandRow="1">
                <a:tableStyleId>{5C22544A-7EE6-4342-B048-85BDC9FD1C3A}</a:tableStyleId>
              </a:tblPr>
              <a:tblGrid>
                <a:gridCol w="1651302">
                  <a:extLst>
                    <a:ext uri="{9D8B030D-6E8A-4147-A177-3AD203B41FA5}">
                      <a16:colId xmlns:a16="http://schemas.microsoft.com/office/drawing/2014/main" val="410543860"/>
                    </a:ext>
                  </a:extLst>
                </a:gridCol>
                <a:gridCol w="5160814">
                  <a:extLst>
                    <a:ext uri="{9D8B030D-6E8A-4147-A177-3AD203B41FA5}">
                      <a16:colId xmlns:a16="http://schemas.microsoft.com/office/drawing/2014/main" val="1887297329"/>
                    </a:ext>
                  </a:extLst>
                </a:gridCol>
                <a:gridCol w="3739486">
                  <a:extLst>
                    <a:ext uri="{9D8B030D-6E8A-4147-A177-3AD203B41FA5}">
                      <a16:colId xmlns:a16="http://schemas.microsoft.com/office/drawing/2014/main" val="2570578567"/>
                    </a:ext>
                  </a:extLst>
                </a:gridCol>
              </a:tblGrid>
              <a:tr h="309763">
                <a:tc>
                  <a:txBody>
                    <a:bodyPr/>
                    <a:lstStyle/>
                    <a:p>
                      <a:r>
                        <a:rPr lang="fi-FI" sz="1400"/>
                        <a:t>Iteration</a:t>
                      </a:r>
                      <a:endParaRPr lang="en-GB" sz="1400"/>
                    </a:p>
                  </a:txBody>
                  <a:tcPr marL="67677" marR="67677" marT="33838" marB="33838"/>
                </a:tc>
                <a:tc>
                  <a:txBody>
                    <a:bodyPr/>
                    <a:lstStyle/>
                    <a:p>
                      <a:r>
                        <a:rPr lang="fi-FI" sz="1400"/>
                        <a:t>Tasks</a:t>
                      </a:r>
                      <a:endParaRPr lang="en-GB" sz="1400"/>
                    </a:p>
                  </a:txBody>
                  <a:tcPr marL="67677" marR="67677" marT="33838" marB="33838"/>
                </a:tc>
                <a:tc>
                  <a:txBody>
                    <a:bodyPr/>
                    <a:lstStyle/>
                    <a:p>
                      <a:r>
                        <a:rPr lang="fi-FI" sz="1400"/>
                        <a:t>CRISP-DM Steps</a:t>
                      </a:r>
                      <a:endParaRPr lang="en-GB" sz="1400"/>
                    </a:p>
                  </a:txBody>
                  <a:tcPr marL="67677" marR="67677" marT="33838" marB="33838"/>
                </a:tc>
                <a:extLst>
                  <a:ext uri="{0D108BD9-81ED-4DB2-BD59-A6C34878D82A}">
                    <a16:rowId xmlns:a16="http://schemas.microsoft.com/office/drawing/2014/main" val="2419656313"/>
                  </a:ext>
                </a:extLst>
              </a:tr>
              <a:tr h="309763">
                <a:tc>
                  <a:txBody>
                    <a:bodyPr/>
                    <a:lstStyle/>
                    <a:p>
                      <a:r>
                        <a:rPr lang="fi-FI" sz="1400"/>
                        <a:t>1</a:t>
                      </a:r>
                      <a:endParaRPr lang="en-GB" sz="1400"/>
                    </a:p>
                  </a:txBody>
                  <a:tcPr marL="67677" marR="67677" marT="33838" marB="33838"/>
                </a:tc>
                <a:tc>
                  <a:txBody>
                    <a:bodyPr/>
                    <a:lstStyle/>
                    <a:p>
                      <a:r>
                        <a:rPr lang="fi-FI" sz="1400"/>
                        <a:t>Mockup of potential solution.</a:t>
                      </a:r>
                      <a:endParaRPr lang="en-GB" sz="1400"/>
                    </a:p>
                  </a:txBody>
                  <a:tcPr marL="67677" marR="67677" marT="33838" marB="33838"/>
                </a:tc>
                <a:tc>
                  <a:txBody>
                    <a:bodyPr/>
                    <a:lstStyle/>
                    <a:p>
                      <a:r>
                        <a:rPr lang="fi-FI" sz="1400"/>
                        <a:t>Business understanding</a:t>
                      </a:r>
                      <a:endParaRPr lang="en-GB" sz="1400"/>
                    </a:p>
                  </a:txBody>
                  <a:tcPr marL="67677" marR="67677" marT="33838" marB="33838"/>
                </a:tc>
                <a:extLst>
                  <a:ext uri="{0D108BD9-81ED-4DB2-BD59-A6C34878D82A}">
                    <a16:rowId xmlns:a16="http://schemas.microsoft.com/office/drawing/2014/main" val="1328498878"/>
                  </a:ext>
                </a:extLst>
              </a:tr>
              <a:tr h="309763">
                <a:tc>
                  <a:txBody>
                    <a:bodyPr/>
                    <a:lstStyle/>
                    <a:p>
                      <a:r>
                        <a:rPr lang="fi-FI" sz="1400"/>
                        <a:t>2</a:t>
                      </a:r>
                      <a:endParaRPr lang="en-GB" sz="1400"/>
                    </a:p>
                  </a:txBody>
                  <a:tcPr marL="67677" marR="67677" marT="33838" marB="33838"/>
                </a:tc>
                <a:tc>
                  <a:txBody>
                    <a:bodyPr/>
                    <a:lstStyle/>
                    <a:p>
                      <a:r>
                        <a:rPr lang="fi-FI" sz="1400"/>
                        <a:t>Collection of example data from a ficticious business.</a:t>
                      </a:r>
                      <a:endParaRPr lang="en-GB" sz="1400"/>
                    </a:p>
                  </a:txBody>
                  <a:tcPr marL="67677" marR="67677" marT="33838" marB="33838"/>
                </a:tc>
                <a:tc>
                  <a:txBody>
                    <a:bodyPr/>
                    <a:lstStyle/>
                    <a:p>
                      <a:r>
                        <a:rPr lang="fi-FI" sz="1400"/>
                        <a:t>+ Data understanding</a:t>
                      </a:r>
                      <a:endParaRPr lang="en-GB" sz="1400"/>
                    </a:p>
                  </a:txBody>
                  <a:tcPr marL="67677" marR="67677" marT="33838" marB="33838"/>
                </a:tc>
                <a:extLst>
                  <a:ext uri="{0D108BD9-81ED-4DB2-BD59-A6C34878D82A}">
                    <a16:rowId xmlns:a16="http://schemas.microsoft.com/office/drawing/2014/main" val="1431850038"/>
                  </a:ext>
                </a:extLst>
              </a:tr>
              <a:tr h="520273">
                <a:tc>
                  <a:txBody>
                    <a:bodyPr/>
                    <a:lstStyle/>
                    <a:p>
                      <a:r>
                        <a:rPr lang="fi-FI" sz="1400"/>
                        <a:t>3</a:t>
                      </a:r>
                      <a:endParaRPr lang="en-GB" sz="1400"/>
                    </a:p>
                  </a:txBody>
                  <a:tcPr marL="67677" marR="67677" marT="33838" marB="33838"/>
                </a:tc>
                <a:tc>
                  <a:txBody>
                    <a:bodyPr/>
                    <a:lstStyle/>
                    <a:p>
                      <a:r>
                        <a:rPr lang="en-GB" sz="1400"/>
                        <a:t>Real data, observational model (that is, a model which maps the situation but does not produce recommendations).</a:t>
                      </a:r>
                    </a:p>
                  </a:txBody>
                  <a:tcPr marL="67677" marR="67677" marT="33838" marB="33838"/>
                </a:tc>
                <a:tc>
                  <a:txBody>
                    <a:bodyPr/>
                    <a:lstStyle/>
                    <a:p>
                      <a:r>
                        <a:rPr lang="fi-FI" sz="1400"/>
                        <a:t>+ Data processing</a:t>
                      </a:r>
                      <a:endParaRPr lang="en-GB" sz="1400"/>
                    </a:p>
                  </a:txBody>
                  <a:tcPr marL="67677" marR="67677" marT="33838" marB="33838"/>
                </a:tc>
                <a:extLst>
                  <a:ext uri="{0D108BD9-81ED-4DB2-BD59-A6C34878D82A}">
                    <a16:rowId xmlns:a16="http://schemas.microsoft.com/office/drawing/2014/main" val="2348256250"/>
                  </a:ext>
                </a:extLst>
              </a:tr>
              <a:tr h="309763">
                <a:tc>
                  <a:txBody>
                    <a:bodyPr/>
                    <a:lstStyle/>
                    <a:p>
                      <a:r>
                        <a:rPr lang="fi-FI" sz="1400"/>
                        <a:t>4</a:t>
                      </a:r>
                      <a:endParaRPr lang="en-GB" sz="1400"/>
                    </a:p>
                  </a:txBody>
                  <a:tcPr marL="67677" marR="67677" marT="33838" marB="3383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t>Computer-based model using synthetic data.</a:t>
                      </a:r>
                    </a:p>
                  </a:txBody>
                  <a:tcPr marL="67677" marR="67677" marT="33838" marB="33838"/>
                </a:tc>
                <a:tc>
                  <a:txBody>
                    <a:bodyPr/>
                    <a:lstStyle/>
                    <a:p>
                      <a:r>
                        <a:rPr lang="fi-FI" sz="1400"/>
                        <a:t>+ Modeling</a:t>
                      </a:r>
                      <a:endParaRPr lang="en-GB" sz="1400"/>
                    </a:p>
                  </a:txBody>
                  <a:tcPr marL="67677" marR="67677" marT="33838" marB="33838"/>
                </a:tc>
                <a:extLst>
                  <a:ext uri="{0D108BD9-81ED-4DB2-BD59-A6C34878D82A}">
                    <a16:rowId xmlns:a16="http://schemas.microsoft.com/office/drawing/2014/main" val="3992524006"/>
                  </a:ext>
                </a:extLst>
              </a:tr>
              <a:tr h="309763">
                <a:tc>
                  <a:txBody>
                    <a:bodyPr/>
                    <a:lstStyle/>
                    <a:p>
                      <a:r>
                        <a:rPr lang="fi-FI" sz="1400"/>
                        <a:t>5</a:t>
                      </a:r>
                      <a:endParaRPr lang="en-GB" sz="1400"/>
                    </a:p>
                  </a:txBody>
                  <a:tcPr marL="67677" marR="67677" marT="33838" marB="33838"/>
                </a:tc>
                <a:tc>
                  <a:txBody>
                    <a:bodyPr/>
                    <a:lstStyle/>
                    <a:p>
                      <a:r>
                        <a:rPr lang="fi-FI" sz="1400"/>
                        <a:t>Assess results.</a:t>
                      </a:r>
                      <a:endParaRPr lang="en-GB" sz="1400"/>
                    </a:p>
                  </a:txBody>
                  <a:tcPr marL="67677" marR="67677" marT="33838" marB="33838"/>
                </a:tc>
                <a:tc>
                  <a:txBody>
                    <a:bodyPr/>
                    <a:lstStyle/>
                    <a:p>
                      <a:r>
                        <a:rPr lang="fi-FI" sz="1400"/>
                        <a:t>+ Evaluation</a:t>
                      </a:r>
                      <a:endParaRPr lang="en-GB" sz="1400"/>
                    </a:p>
                  </a:txBody>
                  <a:tcPr marL="67677" marR="67677" marT="33838" marB="33838"/>
                </a:tc>
                <a:extLst>
                  <a:ext uri="{0D108BD9-81ED-4DB2-BD59-A6C34878D82A}">
                    <a16:rowId xmlns:a16="http://schemas.microsoft.com/office/drawing/2014/main" val="2852306777"/>
                  </a:ext>
                </a:extLst>
              </a:tr>
              <a:tr h="520273">
                <a:tc>
                  <a:txBody>
                    <a:bodyPr/>
                    <a:lstStyle/>
                    <a:p>
                      <a:r>
                        <a:rPr lang="fi-FI" sz="1400"/>
                        <a:t>6</a:t>
                      </a:r>
                      <a:endParaRPr lang="en-GB" sz="1400"/>
                    </a:p>
                  </a:txBody>
                  <a:tcPr marL="67677" marR="67677" marT="33838" marB="33838"/>
                </a:tc>
                <a:tc>
                  <a:txBody>
                    <a:bodyPr/>
                    <a:lstStyle/>
                    <a:p>
                      <a:r>
                        <a:rPr lang="fi-FI" sz="1400"/>
                        <a:t>Real-world model using real data but in controlled circumstances.</a:t>
                      </a:r>
                      <a:endParaRPr lang="en-GB" sz="1400"/>
                    </a:p>
                  </a:txBody>
                  <a:tcPr marL="67677" marR="67677" marT="33838" marB="33838"/>
                </a:tc>
                <a:tc>
                  <a:txBody>
                    <a:bodyPr/>
                    <a:lstStyle/>
                    <a:p>
                      <a:r>
                        <a:rPr lang="fi-FI" sz="1400"/>
                        <a:t>+ Modeling</a:t>
                      </a:r>
                      <a:endParaRPr lang="en-GB" sz="1400"/>
                    </a:p>
                  </a:txBody>
                  <a:tcPr marL="67677" marR="67677" marT="33838" marB="33838"/>
                </a:tc>
                <a:extLst>
                  <a:ext uri="{0D108BD9-81ED-4DB2-BD59-A6C34878D82A}">
                    <a16:rowId xmlns:a16="http://schemas.microsoft.com/office/drawing/2014/main" val="3958751217"/>
                  </a:ext>
                </a:extLst>
              </a:tr>
              <a:tr h="309763">
                <a:tc>
                  <a:txBody>
                    <a:bodyPr/>
                    <a:lstStyle/>
                    <a:p>
                      <a:r>
                        <a:rPr lang="fi-FI" sz="1400"/>
                        <a:t>7</a:t>
                      </a:r>
                      <a:endParaRPr lang="en-GB" sz="1400"/>
                    </a:p>
                  </a:txBody>
                  <a:tcPr marL="67677" marR="67677" marT="33838" marB="3383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i-FI" sz="1400"/>
                        <a:t>Assess results.</a:t>
                      </a:r>
                      <a:endParaRPr lang="en-GB" sz="1400"/>
                    </a:p>
                  </a:txBody>
                  <a:tcPr marL="67677" marR="67677" marT="33838" marB="3383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i-FI" sz="1400"/>
                        <a:t>+ Evaluation</a:t>
                      </a:r>
                      <a:endParaRPr lang="en-GB" sz="1400"/>
                    </a:p>
                  </a:txBody>
                  <a:tcPr marL="67677" marR="67677" marT="33838" marB="33838"/>
                </a:tc>
                <a:extLst>
                  <a:ext uri="{0D108BD9-81ED-4DB2-BD59-A6C34878D82A}">
                    <a16:rowId xmlns:a16="http://schemas.microsoft.com/office/drawing/2014/main" val="1148473505"/>
                  </a:ext>
                </a:extLst>
              </a:tr>
              <a:tr h="309763">
                <a:tc>
                  <a:txBody>
                    <a:bodyPr/>
                    <a:lstStyle/>
                    <a:p>
                      <a:r>
                        <a:rPr lang="fi-FI" sz="1400"/>
                        <a:t>8-n</a:t>
                      </a:r>
                      <a:endParaRPr lang="en-GB" sz="1400"/>
                    </a:p>
                  </a:txBody>
                  <a:tcPr marL="67677" marR="67677" marT="33838" marB="3383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i-FI" sz="1400"/>
                        <a:t>Repeat 6 &amp; 7 until performance is satisfactory for piloting.</a:t>
                      </a:r>
                      <a:endParaRPr lang="en-GB" sz="1400"/>
                    </a:p>
                  </a:txBody>
                  <a:tcPr marL="67677" marR="67677" marT="33838" marB="3383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i-FI" sz="1400"/>
                        <a:t>+ Modeling, Evaluation.</a:t>
                      </a:r>
                      <a:endParaRPr lang="en-GB" sz="1400"/>
                    </a:p>
                  </a:txBody>
                  <a:tcPr marL="67677" marR="67677" marT="33838" marB="33838"/>
                </a:tc>
                <a:extLst>
                  <a:ext uri="{0D108BD9-81ED-4DB2-BD59-A6C34878D82A}">
                    <a16:rowId xmlns:a16="http://schemas.microsoft.com/office/drawing/2014/main" val="1503704630"/>
                  </a:ext>
                </a:extLst>
              </a:tr>
            </a:tbl>
          </a:graphicData>
        </a:graphic>
      </p:graphicFrame>
    </p:spTree>
    <p:extLst>
      <p:ext uri="{BB962C8B-B14F-4D97-AF65-F5344CB8AC3E}">
        <p14:creationId xmlns:p14="http://schemas.microsoft.com/office/powerpoint/2010/main" val="657182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76215B-CC9E-94CC-9F44-D165B68C2E83}"/>
              </a:ext>
            </a:extLst>
          </p:cNvPr>
          <p:cNvSpPr>
            <a:spLocks noGrp="1"/>
          </p:cNvSpPr>
          <p:nvPr>
            <p:ph type="title"/>
          </p:nvPr>
        </p:nvSpPr>
        <p:spPr>
          <a:xfrm>
            <a:off x="803775" y="1106007"/>
            <a:ext cx="10550025" cy="1182927"/>
          </a:xfrm>
        </p:spPr>
        <p:txBody>
          <a:bodyPr anchor="b">
            <a:normAutofit/>
          </a:bodyPr>
          <a:lstStyle/>
          <a:p>
            <a:r>
              <a:rPr lang="fi-FI" sz="5600"/>
              <a:t>General system characteristics</a:t>
            </a:r>
            <a:endParaRPr lang="en-GB" sz="5600"/>
          </a:p>
        </p:txBody>
      </p:sp>
      <p:cxnSp>
        <p:nvCxnSpPr>
          <p:cNvPr id="10" name="Straight Connector 9">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8"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17" name="Content Placeholder 2">
            <a:extLst>
              <a:ext uri="{FF2B5EF4-FFF2-40B4-BE49-F238E27FC236}">
                <a16:creationId xmlns:a16="http://schemas.microsoft.com/office/drawing/2014/main" id="{211E8622-4665-B191-AB09-59FCA55C9F70}"/>
              </a:ext>
            </a:extLst>
          </p:cNvPr>
          <p:cNvGraphicFramePr>
            <a:graphicFrameLocks noGrp="1"/>
          </p:cNvGraphicFramePr>
          <p:nvPr>
            <p:ph idx="1"/>
            <p:extLst>
              <p:ext uri="{D42A27DB-BD31-4B8C-83A1-F6EECF244321}">
                <p14:modId xmlns:p14="http://schemas.microsoft.com/office/powerpoint/2010/main" val="1966528907"/>
              </p:ext>
            </p:extLst>
          </p:nvPr>
        </p:nvGraphicFramePr>
        <p:xfrm>
          <a:off x="803775" y="2598947"/>
          <a:ext cx="10550025" cy="36773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12" name="Group 11">
            <a:extLst>
              <a:ext uri="{FF2B5EF4-FFF2-40B4-BE49-F238E27FC236}">
                <a16:creationId xmlns:a16="http://schemas.microsoft.com/office/drawing/2014/main" id="{78350D8D-73D6-4132-89B5-DD52F3962A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88224" y="2325422"/>
            <a:ext cx="465458" cy="872153"/>
            <a:chOff x="11388224" y="2325422"/>
            <a:chExt cx="465458" cy="872153"/>
          </a:xfrm>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3764" y="232542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762544" y="255471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88224" y="306986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grpSp>
    </p:spTree>
    <p:extLst>
      <p:ext uri="{BB962C8B-B14F-4D97-AF65-F5344CB8AC3E}">
        <p14:creationId xmlns:p14="http://schemas.microsoft.com/office/powerpoint/2010/main" val="1322895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A9123263-2503-C1C4-9C5C-D75B3671EFC7}"/>
              </a:ext>
            </a:extLst>
          </p:cNvPr>
          <p:cNvSpPr>
            <a:spLocks noGrp="1"/>
          </p:cNvSpPr>
          <p:nvPr>
            <p:ph type="title"/>
          </p:nvPr>
        </p:nvSpPr>
        <p:spPr>
          <a:xfrm>
            <a:off x="1188069" y="381935"/>
            <a:ext cx="4008583" cy="5974414"/>
          </a:xfrm>
        </p:spPr>
        <p:txBody>
          <a:bodyPr anchor="ctr">
            <a:normAutofit/>
          </a:bodyPr>
          <a:lstStyle/>
          <a:p>
            <a:r>
              <a:rPr lang="fi-FI" sz="5600" dirty="0">
                <a:solidFill>
                  <a:srgbClr val="FFFFFF"/>
                </a:solidFill>
              </a:rPr>
              <a:t>Preliminary assessment of production risks</a:t>
            </a:r>
            <a:endParaRPr lang="en-GB" sz="5600" dirty="0">
              <a:solidFill>
                <a:srgbClr val="FFFFFF"/>
              </a:solidFill>
            </a:endParaRPr>
          </a:p>
        </p:txBody>
      </p:sp>
      <p:grpSp>
        <p:nvGrpSpPr>
          <p:cNvPr id="26" name="Group 25">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27"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28"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29"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A8ACA6F7-75D1-1FE5-BC0F-4A5E9916E228}"/>
              </a:ext>
            </a:extLst>
          </p:cNvPr>
          <p:cNvSpPr>
            <a:spLocks noGrp="1"/>
          </p:cNvSpPr>
          <p:nvPr>
            <p:ph idx="1"/>
          </p:nvPr>
        </p:nvSpPr>
        <p:spPr>
          <a:xfrm>
            <a:off x="6297233" y="518400"/>
            <a:ext cx="4771607" cy="5837949"/>
          </a:xfrm>
        </p:spPr>
        <p:txBody>
          <a:bodyPr anchor="ctr">
            <a:normAutofit/>
          </a:bodyPr>
          <a:lstStyle/>
          <a:p>
            <a:r>
              <a:rPr lang="fi-FI" sz="2000" dirty="0">
                <a:solidFill>
                  <a:schemeClr val="tx1">
                    <a:alpha val="80000"/>
                  </a:schemeClr>
                </a:solidFill>
              </a:rPr>
              <a:t>Risk is unescapable, but polyzentrik seems in good place to manage production risks.</a:t>
            </a:r>
            <a:endParaRPr lang="en-GB" sz="2000" dirty="0">
              <a:solidFill>
                <a:schemeClr val="tx1">
                  <a:alpha val="80000"/>
                </a:schemeClr>
              </a:solidFill>
            </a:endParaRPr>
          </a:p>
        </p:txBody>
      </p:sp>
      <p:cxnSp>
        <p:nvCxnSpPr>
          <p:cNvPr id="31" name="Straight Connector 30">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4564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180255-8255-2028-0FF2-FF76C07BF429}"/>
              </a:ext>
            </a:extLst>
          </p:cNvPr>
          <p:cNvSpPr>
            <a:spLocks noGrp="1"/>
          </p:cNvSpPr>
          <p:nvPr>
            <p:ph type="title"/>
          </p:nvPr>
        </p:nvSpPr>
        <p:spPr>
          <a:xfrm>
            <a:off x="803775" y="1106007"/>
            <a:ext cx="10550025" cy="1182927"/>
          </a:xfrm>
        </p:spPr>
        <p:txBody>
          <a:bodyPr anchor="b">
            <a:normAutofit/>
          </a:bodyPr>
          <a:lstStyle/>
          <a:p>
            <a:r>
              <a:rPr lang="fi-FI" sz="5600" dirty="0"/>
              <a:t>Production risks</a:t>
            </a:r>
            <a:endParaRPr lang="en-GB" sz="5600" dirty="0"/>
          </a:p>
        </p:txBody>
      </p:sp>
      <p:cxnSp>
        <p:nvCxnSpPr>
          <p:cNvPr id="10" name="Straight Connector 9">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8"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E0E4DC0-71D8-7923-1F6F-7A64F5E541D7}"/>
              </a:ext>
            </a:extLst>
          </p:cNvPr>
          <p:cNvSpPr>
            <a:spLocks noGrp="1"/>
          </p:cNvSpPr>
          <p:nvPr>
            <p:ph idx="1"/>
          </p:nvPr>
        </p:nvSpPr>
        <p:spPr>
          <a:xfrm>
            <a:off x="803775" y="2598947"/>
            <a:ext cx="10550025" cy="3677348"/>
          </a:xfrm>
        </p:spPr>
        <p:txBody>
          <a:bodyPr anchor="t">
            <a:normAutofit lnSpcReduction="10000"/>
          </a:bodyPr>
          <a:lstStyle/>
          <a:p>
            <a:r>
              <a:rPr lang="en-GB" sz="2000" dirty="0">
                <a:solidFill>
                  <a:schemeClr val="tx1">
                    <a:alpha val="80000"/>
                  </a:schemeClr>
                </a:solidFill>
              </a:rPr>
              <a:t>Excessive latency. Unlikely.</a:t>
            </a:r>
          </a:p>
          <a:p>
            <a:pPr lvl="1"/>
            <a:r>
              <a:rPr lang="en-GB" sz="1600" dirty="0">
                <a:solidFill>
                  <a:schemeClr val="tx1">
                    <a:alpha val="80000"/>
                  </a:schemeClr>
                </a:solidFill>
              </a:rPr>
              <a:t>Since the system is cloud-based and aims for batch predictions, latency is unlikely to be a problem. In the event of connection issues, the previous state of affairs remains valid for quite a while.</a:t>
            </a:r>
          </a:p>
          <a:p>
            <a:r>
              <a:rPr lang="en-GB" sz="2000" dirty="0">
                <a:solidFill>
                  <a:schemeClr val="tx1">
                    <a:alpha val="80000"/>
                  </a:schemeClr>
                </a:solidFill>
              </a:rPr>
              <a:t>Model decay. Possible.</a:t>
            </a:r>
          </a:p>
          <a:p>
            <a:pPr lvl="1"/>
            <a:r>
              <a:rPr lang="en-GB" sz="1600" dirty="0">
                <a:solidFill>
                  <a:schemeClr val="tx1">
                    <a:alpha val="80000"/>
                  </a:schemeClr>
                </a:solidFill>
              </a:rPr>
              <a:t>Policy and governance affairs are incredibly fluid, which means a model valid today may not necessarily remain valid overtime. It is therefore important to ensure the algorithm keeps up with change.</a:t>
            </a:r>
          </a:p>
          <a:p>
            <a:r>
              <a:rPr lang="en-GB" sz="2000" dirty="0">
                <a:solidFill>
                  <a:schemeClr val="tx1">
                    <a:alpha val="80000"/>
                  </a:schemeClr>
                </a:solidFill>
              </a:rPr>
              <a:t>Data drift. Likely.</a:t>
            </a:r>
          </a:p>
          <a:p>
            <a:pPr lvl="1"/>
            <a:r>
              <a:rPr lang="en-GB" sz="1600" dirty="0">
                <a:solidFill>
                  <a:schemeClr val="tx1">
                    <a:alpha val="80000"/>
                  </a:schemeClr>
                </a:solidFill>
              </a:rPr>
              <a:t>Users will adapt to the system, and even try to game it. Equally, toolkits themselves will become dated over time. It is therefore important for experts to regularly revisit toolkits.</a:t>
            </a:r>
          </a:p>
          <a:p>
            <a:r>
              <a:rPr lang="en-GB" sz="2000" dirty="0">
                <a:solidFill>
                  <a:schemeClr val="tx1">
                    <a:alpha val="80000"/>
                  </a:schemeClr>
                </a:solidFill>
              </a:rPr>
              <a:t>Concept drift. Very likely. </a:t>
            </a:r>
          </a:p>
          <a:p>
            <a:pPr lvl="1"/>
            <a:r>
              <a:rPr lang="en-GB" sz="1600" dirty="0">
                <a:solidFill>
                  <a:schemeClr val="tx1">
                    <a:alpha val="80000"/>
                  </a:schemeClr>
                </a:solidFill>
              </a:rPr>
              <a:t>Polyzentrik aims to improve the quality of policy/governance actions by businesses, which is not same as aiming to fix the world’s policy/governance problems. There is a need to be very clear with what polyzentrik can and cannot do. There is a need to be very clear with what polyzentrik’s AI system can and cannot do.</a:t>
            </a:r>
          </a:p>
          <a:p>
            <a:endParaRPr lang="en-GB" sz="2000" dirty="0">
              <a:solidFill>
                <a:schemeClr val="tx1">
                  <a:alpha val="80000"/>
                </a:schemeClr>
              </a:solidFill>
            </a:endParaRPr>
          </a:p>
        </p:txBody>
      </p:sp>
      <p:grpSp>
        <p:nvGrpSpPr>
          <p:cNvPr id="12" name="Group 11">
            <a:extLst>
              <a:ext uri="{FF2B5EF4-FFF2-40B4-BE49-F238E27FC236}">
                <a16:creationId xmlns:a16="http://schemas.microsoft.com/office/drawing/2014/main" id="{78350D8D-73D6-4132-89B5-DD52F3962A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88224" y="2325422"/>
            <a:ext cx="465458" cy="872153"/>
            <a:chOff x="11388224" y="2325422"/>
            <a:chExt cx="465458" cy="872153"/>
          </a:xfrm>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3764" y="232542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762544" y="255471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88224" y="306986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grpSp>
    </p:spTree>
    <p:extLst>
      <p:ext uri="{BB962C8B-B14F-4D97-AF65-F5344CB8AC3E}">
        <p14:creationId xmlns:p14="http://schemas.microsoft.com/office/powerpoint/2010/main" val="30518455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ndara">
      <a:maj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TM02900720[[fn=Integral]]</Template>
  <TotalTime>1018</TotalTime>
  <Words>1063</Words>
  <Application>Microsoft Office PowerPoint</Application>
  <PresentationFormat>Widescreen</PresentationFormat>
  <Paragraphs>105</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Agency FB</vt:lpstr>
      <vt:lpstr>Arial</vt:lpstr>
      <vt:lpstr>Candara</vt:lpstr>
      <vt:lpstr>Office Theme</vt:lpstr>
      <vt:lpstr>Polyzentrik</vt:lpstr>
      <vt:lpstr>Note</vt:lpstr>
      <vt:lpstr>Product description</vt:lpstr>
      <vt:lpstr>Business opportunity</vt:lpstr>
      <vt:lpstr>Why AI?</vt:lpstr>
      <vt:lpstr>What is product success?</vt:lpstr>
      <vt:lpstr>Approach to development</vt:lpstr>
      <vt:lpstr>Validation</vt:lpstr>
      <vt:lpstr>Development</vt:lpstr>
      <vt:lpstr>General system characteristics</vt:lpstr>
      <vt:lpstr>Preliminary assessment of production risks</vt:lpstr>
      <vt:lpstr>Production risks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polyzentrik</dc:title>
  <dc:creator>Jose A Bolanos</dc:creator>
  <cp:lastModifiedBy>Jose A Bolanos</cp:lastModifiedBy>
  <cp:revision>21</cp:revision>
  <dcterms:created xsi:type="dcterms:W3CDTF">2022-03-25T13:14:56Z</dcterms:created>
  <dcterms:modified xsi:type="dcterms:W3CDTF">2022-08-06T15:26:41Z</dcterms:modified>
</cp:coreProperties>
</file>