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61" r:id="rId4"/>
    <p:sldId id="259" r:id="rId5"/>
    <p:sldId id="266" r:id="rId6"/>
    <p:sldId id="268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FCAE-6564-4426-960E-D46932975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5F79D-10EE-4E4E-8103-EE1309862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51ED-F693-4299-93AC-AD6C2101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4252C-59A1-4252-9877-003BAC1C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6BD5-FA37-4877-A3EE-F355B35A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48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5E40-D185-42C9-BDD9-7E91BF6A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D9EA-7884-4345-98A1-4892D905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FD5DD-A15C-47FF-8964-B68490F8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3E840-423C-43A0-8E93-BA73C6C9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B8711-99F9-49DB-98BF-C330E022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99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911C-5683-40D6-8669-BD02B222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7200">
                <a:latin typeface="Agency FB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0656B-751C-4B87-81CE-5C90BDE07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220A2-9A2F-4454-A07F-E65A3E33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2C45-B3EA-4AA0-9BB8-925E2A00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A5C6D-336F-4704-81F7-13B27EF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04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E7B1-23A5-4170-A460-15CA9F35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CFC8-A338-4990-A00D-FE673FDC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CF2E1-3CAF-47AA-B075-9E2E1044A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29701-2942-4649-9A22-AFC3C466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0CAA-643F-4169-B5E6-B9D9C709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C7323-4F83-41EA-87B0-E4F6D4AF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04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D48B-865F-4346-BD32-E50B977D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6B42E-C63E-4C43-8239-D842867F7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71282-3BE8-47C8-9518-2F376DBF6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BAA78-2F0C-4CE9-975F-8D6A628FA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D5E89-63F5-43F7-8082-B438A0C82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AEB9D-5877-47B1-90D6-0BB6A594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fld id="{C3EE0017-27B4-44B5-8BBD-90ACDB40B7E5}" type="datetimeFigureOut">
              <a:rPr lang="en-GB" smtClean="0"/>
              <a:pPr/>
              <a:t>06/08/2022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FD448-741B-4138-A07B-043526D4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CE7F7-A13B-43E6-B487-1C5B2F15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fld id="{B316ED4E-AB7B-4D4E-978A-CADC14D1D58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741B-543F-4942-9327-D87E48AE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04E51-6442-45C2-903F-A7444A93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0C20C-3F4A-4645-9624-1A4B1815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8A59E-3844-4931-BFCD-85AB760B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75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CA44F-4F00-4047-B38E-8BDFA8D8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CC1E6-C34E-481D-98D0-4CB1937E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A8508-F324-4017-AE97-2521CA8C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00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8F87-BECD-4668-A8A3-BC579C42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E0A5-842E-4A12-BC7F-C9FEAE85D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BD3-1F85-487B-97A5-CD804042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E2B57-810B-49D3-82F0-293A51AE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E331F-F621-436D-A6B3-65220629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BEA58-54AA-4B25-A0BE-677B5C39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9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3530-0EDC-47B7-B52C-94A5B561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7A9EA-931F-46A3-BDE0-843428871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5E1E4-7929-4273-BC98-EC34C048D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CFAC1-218A-4EF4-91D2-9CE32172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04537-2162-406B-A627-964C753C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363DB-8FC3-40DD-9EB2-FA552CC6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14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127C-3D9F-4F4B-988F-701BEAB4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CCE30-FD24-4DA6-8EB3-5ADAE4E2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BE1F9-618C-463E-AEEA-AA3D2403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4EB4A-502D-41D1-9A2C-007CE1381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3B4B9-1531-4893-9A05-487FB4DA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0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043DC-CC53-4592-A61D-CEC550E32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FC7B4-7D61-496C-B185-C51821854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872B-A6AD-46E3-986F-3D9CDF24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954DF-CE2C-41AB-8D41-B0C86E32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4182-9D9C-470C-9A19-52C1D9D3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0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73FF0-3F61-407A-B140-586EA60D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24FCD-A626-46CC-AF00-C644EC3F4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87914-9B65-4C37-90D2-F23B057E5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E0017-27B4-44B5-8BBD-90ACDB40B7E5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A89B-8327-49A1-9B4E-BF8832AAE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10496-2582-4758-BFF7-88CC9194D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ED4E-AB7B-4D4E-978A-CADC14D1D5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8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eatorspad.com/pages/govtech-report" TargetMode="External"/><Relationship Id="rId2" Type="http://schemas.openxmlformats.org/officeDocument/2006/relationships/hyperlink" Target="https://apolitical.co/solution-articles/en/what-is-govtech-the-400bn-market-shaking-up-public-sector-procuremen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jbol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6CA46-1447-4ABB-8CB8-8D0FBC24B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fi-FI" dirty="0">
                <a:solidFill>
                  <a:srgbClr val="FFFFFF"/>
                </a:solidFill>
              </a:rPr>
              <a:t>Polyzentrik</a:t>
            </a:r>
            <a:endParaRPr lang="en-GB" sz="5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CE29-7BD6-4BEF-BE7A-F9DAA57CA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GB" sz="2800" dirty="0" err="1">
                <a:solidFill>
                  <a:srgbClr val="FFFFFF"/>
                </a:solidFill>
              </a:rPr>
              <a:t>GovTech</a:t>
            </a:r>
            <a:r>
              <a:rPr lang="en-GB" sz="2800" dirty="0">
                <a:solidFill>
                  <a:srgbClr val="FFFFFF"/>
                </a:solidFill>
              </a:rPr>
              <a:t> for the many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690932A-32FB-980D-382B-C775AC7CD20B}"/>
              </a:ext>
            </a:extLst>
          </p:cNvPr>
          <p:cNvGrpSpPr/>
          <p:nvPr/>
        </p:nvGrpSpPr>
        <p:grpSpPr>
          <a:xfrm>
            <a:off x="7316025" y="1752680"/>
            <a:ext cx="1011302" cy="1025574"/>
            <a:chOff x="5588825" y="4468716"/>
            <a:chExt cx="1011302" cy="1025574"/>
          </a:xfrm>
        </p:grpSpPr>
        <p:cxnSp>
          <p:nvCxnSpPr>
            <p:cNvPr id="78" name="AutoShape 3">
              <a:extLst>
                <a:ext uri="{FF2B5EF4-FFF2-40B4-BE49-F238E27FC236}">
                  <a16:creationId xmlns:a16="http://schemas.microsoft.com/office/drawing/2014/main" id="{91E0B4C9-C531-0C68-B3E8-068E5624E1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11744" y="4629082"/>
              <a:ext cx="249250" cy="323195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9" name="AutoShape 4">
              <a:extLst>
                <a:ext uri="{FF2B5EF4-FFF2-40B4-BE49-F238E27FC236}">
                  <a16:creationId xmlns:a16="http://schemas.microsoft.com/office/drawing/2014/main" id="{7CDDF108-C92F-E4E3-04C9-F5D86E2FE6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00559" y="4766231"/>
              <a:ext cx="332059" cy="523396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0" name="AutoShape 5">
              <a:extLst>
                <a:ext uri="{FF2B5EF4-FFF2-40B4-BE49-F238E27FC236}">
                  <a16:creationId xmlns:a16="http://schemas.microsoft.com/office/drawing/2014/main" id="{CAA29C5C-71FF-BC90-2ED7-613CCE8A87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675604" y="4698553"/>
              <a:ext cx="69054" cy="205813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6">
              <a:extLst>
                <a:ext uri="{FF2B5EF4-FFF2-40B4-BE49-F238E27FC236}">
                  <a16:creationId xmlns:a16="http://schemas.microsoft.com/office/drawing/2014/main" id="{AEA2D187-DBC7-0ADA-3894-13C66E754A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73743" y="5042966"/>
              <a:ext cx="651252" cy="0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32B95EC-18B8-99A9-AA03-C8C84BF87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1038" y="4564128"/>
              <a:ext cx="199564" cy="242705"/>
            </a:xfrm>
            <a:prstGeom prst="ellipse">
              <a:avLst/>
            </a:prstGeom>
            <a:pattFill prst="dkDnDiag">
              <a:fgClr>
                <a:srgbClr val="00B0F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B969DD2-4494-8901-0AEF-50AEA8195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563" y="4871444"/>
              <a:ext cx="199564" cy="242705"/>
            </a:xfrm>
            <a:prstGeom prst="ellipse">
              <a:avLst/>
            </a:prstGeom>
            <a:pattFill prst="zigZag">
              <a:fgClr>
                <a:srgbClr val="FF9999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84" name="AutoShape 9">
              <a:extLst>
                <a:ext uri="{FF2B5EF4-FFF2-40B4-BE49-F238E27FC236}">
                  <a16:creationId xmlns:a16="http://schemas.microsoft.com/office/drawing/2014/main" id="{C55B36A6-07FB-34A4-AABC-A2F9894DB1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16727" y="5098680"/>
              <a:ext cx="127910" cy="230727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10">
              <a:extLst>
                <a:ext uri="{FF2B5EF4-FFF2-40B4-BE49-F238E27FC236}">
                  <a16:creationId xmlns:a16="http://schemas.microsoft.com/office/drawing/2014/main" id="{8B7B3188-7484-1A25-DB11-531E47327A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03458" y="5097380"/>
              <a:ext cx="516772" cy="271383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249FEA4-98C0-9C39-0F3D-67C1E06CF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1068" y="5251585"/>
              <a:ext cx="199496" cy="242705"/>
            </a:xfrm>
            <a:prstGeom prst="ellipse">
              <a:avLst/>
            </a:prstGeom>
            <a:pattFill prst="narVert">
              <a:fgClr>
                <a:srgbClr val="FFC00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87" name="AutoShape 12">
              <a:extLst>
                <a:ext uri="{FF2B5EF4-FFF2-40B4-BE49-F238E27FC236}">
                  <a16:creationId xmlns:a16="http://schemas.microsoft.com/office/drawing/2014/main" id="{1DD2E28D-D3F8-9D0C-1967-08C9D1EDD4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61356" y="4678499"/>
              <a:ext cx="348484" cy="293354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64A157-65C4-DFF5-3D41-2064A9110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825" y="4902518"/>
              <a:ext cx="199564" cy="242773"/>
            </a:xfrm>
            <a:prstGeom prst="ellipse">
              <a:avLst/>
            </a:prstGeom>
            <a:pattFill prst="ltUpDiag">
              <a:fgClr>
                <a:srgbClr val="92D050"/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033FD8F-58C6-78D9-C6DA-665888A01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5843" y="4468716"/>
              <a:ext cx="199564" cy="242705"/>
            </a:xfrm>
            <a:prstGeom prst="ellipse">
              <a:avLst/>
            </a:prstGeom>
            <a:pattFill prst="pct25">
              <a:fgClr>
                <a:schemeClr val="dk1">
                  <a:lumMod val="0"/>
                  <a:lumOff val="0"/>
                </a:schemeClr>
              </a:fgClr>
              <a:bgClr>
                <a:srgbClr val="FFFFFF"/>
              </a:bgClr>
            </a:patt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dk1">
                        <a:lumMod val="0"/>
                        <a:lumOff val="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36576" tIns="36576" rIns="36576" bIns="36576" anchor="t" anchorCtr="0" upright="1">
              <a:noAutofit/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6855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4C23D-B132-4AD9-85F1-A09BC6E3B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7400">
                <a:solidFill>
                  <a:srgbClr val="FFFFFF"/>
                </a:solidFill>
              </a:rPr>
              <a:t>The goal and potential</a:t>
            </a:r>
            <a:endParaRPr lang="en-GB" sz="74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309D-6D98-4F9A-8B67-A4E2BB801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Polyzentrik wants to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help policy/governance experts help businesses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assess and manage key governance indicators (KGIs),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selectively exchange data about these with partners and public authorities.</a:t>
            </a:r>
          </a:p>
          <a:p>
            <a:pPr marL="971550" lvl="1" indent="-514350">
              <a:buFont typeface="+mj-lt"/>
              <a:buAutoNum type="arabicPeriod"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potential is huge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In business terms, </a:t>
            </a:r>
            <a:r>
              <a:rPr lang="en-GB" sz="2000" dirty="0" err="1">
                <a:solidFill>
                  <a:schemeClr val="tx1">
                    <a:alpha val="80000"/>
                  </a:schemeClr>
                </a:solidFill>
              </a:rPr>
              <a:t>GovTech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is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valued at over $400bn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expected to reach $1 trillion by 2025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In policy/governance terms, helping good actors improve how they contribute to society and environment is as important as punishing bad behaviour.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77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F8BE9-B3BF-4CA0-A1C8-B4F88323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The product</a:t>
            </a:r>
            <a:endParaRPr lang="en-GB" sz="8000">
              <a:solidFill>
                <a:srgbClr val="FFFFFF"/>
              </a:solidFill>
            </a:endParaRPr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75A7-A761-4FFE-9030-D8DE33A0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A platform to </a:t>
            </a:r>
            <a:r>
              <a:rPr lang="fi-FI" sz="2000" b="1" dirty="0">
                <a:solidFill>
                  <a:schemeClr val="tx1">
                    <a:alpha val="80000"/>
                  </a:schemeClr>
                </a:solidFill>
              </a:rPr>
              <a:t>help experts in policy and governance (e.g. academics, consultants, and activists) easily produce digital policy/governance toolkits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that businesses can then use easily.</a:t>
            </a:r>
          </a:p>
          <a:p>
            <a:endParaRPr lang="fi-FI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Simple as THAT!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09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 dirty="0"/>
              <a:t>The market</a:t>
            </a:r>
            <a:endParaRPr lang="en-GB" sz="5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 fontScale="70000" lnSpcReduction="20000"/>
          </a:bodyPr>
          <a:lstStyle/>
          <a:p>
            <a:r>
              <a:rPr lang="en-GB" b="1" dirty="0"/>
              <a:t>Competitors</a:t>
            </a:r>
          </a:p>
          <a:p>
            <a:pPr lvl="1"/>
            <a:r>
              <a:rPr lang="en-GB" dirty="0"/>
              <a:t>Industry-specific tools with data management and data sharing capacities exist in many industries. </a:t>
            </a:r>
          </a:p>
          <a:p>
            <a:pPr lvl="1"/>
            <a:r>
              <a:rPr lang="en-GB" dirty="0"/>
              <a:t>However, there is no platform where policy/governance experts could easily produce digital toolkits.</a:t>
            </a:r>
          </a:p>
          <a:p>
            <a:pPr lvl="1"/>
            <a:endParaRPr lang="en-GB" dirty="0"/>
          </a:p>
          <a:p>
            <a:r>
              <a:rPr lang="en-GB" b="1" dirty="0"/>
              <a:t>Competitive advantage</a:t>
            </a:r>
          </a:p>
          <a:p>
            <a:pPr lvl="1"/>
            <a:r>
              <a:rPr lang="en-GB" b="1" dirty="0"/>
              <a:t>Affordability.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Many development costs would be spread across industries, whereas industry-specific solutions often have high licensing fees due to a need to recuperate the whole investment from single industry.</a:t>
            </a:r>
          </a:p>
          <a:p>
            <a:pPr lvl="1"/>
            <a:r>
              <a:rPr lang="en-GB" b="1" dirty="0"/>
              <a:t>Bottom-up governance.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Polyzentrik aims for toolkits by experts who are close to users and can therefore offer guidance and support. Many well-implemented solutions could bring about better results than badly implemented global standards (a problem that pervades governance, sadly).</a:t>
            </a:r>
          </a:p>
          <a:p>
            <a:pPr lvl="1"/>
            <a:r>
              <a:rPr lang="en-GB" b="1" dirty="0"/>
              <a:t>Open source.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Since governance is expert-driven, there is no need for polyzentrik to be secretive about its code. Implied is the ability to approach development in a collaborative manner.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fi-FI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9646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/>
              <a:t>The business model</a:t>
            </a:r>
            <a:endParaRPr lang="en-GB" sz="5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Freemium </a:t>
            </a:r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DaaS</a:t>
            </a: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 (Data-as-a-Service)</a:t>
            </a:r>
          </a:p>
          <a:p>
            <a:pPr lvl="1"/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Experts can contribute for free.</a:t>
            </a:r>
          </a:p>
          <a:p>
            <a:pPr lvl="1"/>
            <a:r>
              <a:rPr lang="en-GB" sz="1700" b="1" dirty="0">
                <a:solidFill>
                  <a:schemeClr val="tx1">
                    <a:alpha val="80000"/>
                  </a:schemeClr>
                </a:solidFill>
              </a:rPr>
              <a:t>Three memberships for businesses.</a:t>
            </a: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*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Basic (free). Use toolkits in a self-assessment mode.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Premium (paid). Share data from toolkits with auditors (necessary in many verification/certification scenarios). </a:t>
            </a:r>
          </a:p>
          <a:p>
            <a:pPr lvl="2"/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Advance (paid). Share data from toolkits with business partners (for example, to access finance) and/or authorities (for example, for reporting).</a:t>
            </a:r>
          </a:p>
          <a:p>
            <a:pPr lvl="1"/>
            <a:endParaRPr lang="en-GB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 algn="r">
              <a:buNone/>
            </a:pPr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* All users will benefit from comparative analysis of trends in their region/sector.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39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9BB22-183E-36F1-9AB4-B9D8B553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GB" sz="5600"/>
              <a:t>The earning goals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4CBC-7AF7-E8B0-A252-617CECBA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Short-term. 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A non-equity crowdfunding campaign with a €100,000 target.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Long-term.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 want to do this because I see an opportunity to improve how businesses go about contributing to society and environment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That said, business is business, and truth be said, the potential is huge.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Data is the new oil. Only, in polyzentrik’s case, practices would be ethical: profit would come from helping businesses control and share their data, rather than using their data nefariously.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E.g.: 10,000 advance members * €100 = €1,000,000/year.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545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C8F7-EC7C-4501-9B44-328EFCC0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fi-FI" sz="5600"/>
              <a:t>The investment journey</a:t>
            </a:r>
            <a:endParaRPr lang="en-GB" sz="5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6F1C7-6720-498A-9B82-9E92BC7C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Ideation/validation (year 1)</a:t>
            </a:r>
            <a:endParaRPr lang="fi-FI" sz="16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Bootstrapping + non-equity crowdfunding.</a:t>
            </a:r>
          </a:p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PMF &amp; initial monetisation (year 2)</a:t>
            </a: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Governmental grants + non-equity partnerships. 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Incomes from crowdfunding could potentially be used as the co-funding share of a government grant. </a:t>
            </a:r>
          </a:p>
          <a:p>
            <a:r>
              <a:rPr lang="en-GB" sz="1600">
                <a:solidFill>
                  <a:schemeClr val="tx1">
                    <a:alpha val="80000"/>
                  </a:schemeClr>
                </a:solidFill>
              </a:rPr>
              <a:t>Growth &amp; internationalisation (year 3 →)</a:t>
            </a:r>
            <a:endParaRPr lang="fi-FI" sz="16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Venture capital. 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Cost-concious approach in previous years may allow good room for negotiating equity.</a:t>
            </a:r>
          </a:p>
          <a:p>
            <a:pPr lvl="2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Seven-figure series A seems feasible.</a:t>
            </a:r>
          </a:p>
          <a:p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IPO</a:t>
            </a:r>
          </a:p>
          <a:p>
            <a:pPr lvl="1"/>
            <a:r>
              <a:rPr lang="fi-FI" sz="1600">
                <a:solidFill>
                  <a:schemeClr val="tx1">
                    <a:alpha val="80000"/>
                  </a:schemeClr>
                </a:solidFill>
              </a:rPr>
              <a:t>In for the long-haul!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0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6CA46-1447-4ABB-8CB8-8D0FBC24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The team</a:t>
            </a:r>
            <a:endParaRPr lang="en-GB" sz="8000">
              <a:solidFill>
                <a:srgbClr val="FFFFFF"/>
              </a:solidFill>
            </a:endParaRPr>
          </a:p>
        </p:txBody>
      </p:sp>
      <p:grpSp>
        <p:nvGrpSpPr>
          <p:cNvPr id="36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CE29-7BD6-4BEF-BE7A-F9DAA57CA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Good question!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Want to help? </a:t>
            </a:r>
          </a:p>
          <a:p>
            <a:pPr lvl="1"/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Shoot me a line on 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  <a:hlinkClick r:id="rId2"/>
              </a:rPr>
              <a:t>LinkedIn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… I’d be particularly happy to hear of Finland-based business savvy people willing to slow down to the speed needed to ensure the quality of policy/governance. I will NOT help create yet another insincere policy/governance solution. 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62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391</TotalTime>
  <Words>618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Agency FB</vt:lpstr>
      <vt:lpstr>Arial</vt:lpstr>
      <vt:lpstr>Candara</vt:lpstr>
      <vt:lpstr>Office Theme</vt:lpstr>
      <vt:lpstr>Polyzentrik</vt:lpstr>
      <vt:lpstr>The goal and potential</vt:lpstr>
      <vt:lpstr>The product</vt:lpstr>
      <vt:lpstr>The market</vt:lpstr>
      <vt:lpstr>The business model</vt:lpstr>
      <vt:lpstr>The earning goals</vt:lpstr>
      <vt:lpstr>The investment journey</vt:lpstr>
      <vt:lpstr>The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polyzentrik</dc:title>
  <dc:creator>Jose A Bolanos</dc:creator>
  <cp:lastModifiedBy>Jose A Bolanos</cp:lastModifiedBy>
  <cp:revision>14</cp:revision>
  <dcterms:created xsi:type="dcterms:W3CDTF">2022-03-25T13:14:56Z</dcterms:created>
  <dcterms:modified xsi:type="dcterms:W3CDTF">2022-08-06T15:40:53Z</dcterms:modified>
</cp:coreProperties>
</file>